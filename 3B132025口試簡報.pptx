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3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稀有度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5C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B2-4828-9E58-C612659A02C2}"/>
              </c:ext>
            </c:extLst>
          </c:dPt>
          <c:dPt>
            <c:idx val="1"/>
            <c:bubble3D val="0"/>
            <c:spPr>
              <a:solidFill>
                <a:srgbClr val="3A7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B2-4828-9E58-C612659A02C2}"/>
              </c:ext>
            </c:extLst>
          </c:dPt>
          <c:dPt>
            <c:idx val="2"/>
            <c:bubble3D val="0"/>
            <c:spPr>
              <a:solidFill>
                <a:srgbClr val="9B4D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B2-4828-9E58-C612659A02C2}"/>
              </c:ext>
            </c:extLst>
          </c:dPt>
          <c:dPt>
            <c:idx val="3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B2-4828-9E58-C612659A02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B2-4828-9E58-C612659A02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B2-4828-9E58-C612659A02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B2-4828-9E58-C612659A02C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B2-4828-9E58-C612659A02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普通 60%</c:v>
                </c:pt>
                <c:pt idx="1">
                  <c:v>稀有 25%</c:v>
                </c:pt>
                <c:pt idx="2">
                  <c:v>史詩 12%</c:v>
                </c:pt>
                <c:pt idx="3">
                  <c:v>隱藏 3%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B2-4828-9E58-C612659A0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 消耗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A3-4AE1-AD45-0EC2E1531F30}"/>
              </c:ext>
            </c:extLst>
          </c:dPt>
          <c:dPt>
            <c:idx val="1"/>
            <c:invertIfNegative val="0"/>
            <c:bubble3D val="0"/>
            <c:spPr>
              <a:solidFill>
                <a:srgbClr val="52C4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A3-4AE1-AD45-0EC2E1531F30}"/>
              </c:ext>
            </c:extLst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A3-4AE1-AD45-0EC2E1531F30}"/>
              </c:ext>
            </c:extLst>
          </c:dPt>
          <c:dPt>
            <c:idx val="3"/>
            <c:invertIfNegative val="0"/>
            <c:bubble3D val="0"/>
            <c:spPr>
              <a:solidFill>
                <a:srgbClr val="F5C5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A3-4AE1-AD45-0EC2E1531F30}"/>
              </c:ext>
            </c:extLst>
          </c:dPt>
          <c:dPt>
            <c:idx val="4"/>
            <c:invertIfNegative val="0"/>
            <c:bubble3D val="0"/>
            <c:spPr>
              <a:solidFill>
                <a:srgbClr val="FF4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A3-4AE1-AD45-0EC2E1531F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部署合約</c:v>
                </c:pt>
                <c:pt idx="1">
                  <c:v>mintPet()</c:v>
                </c:pt>
                <c:pt idx="2">
                  <c:v>evolve()</c:v>
                </c:pt>
                <c:pt idx="3">
                  <c:v>getPet()</c:v>
                </c:pt>
                <c:pt idx="4">
                  <c:v>withdraw()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1200000</c:v>
                </c:pt>
                <c:pt idx="1">
                  <c:v>180000</c:v>
                </c:pt>
                <c:pt idx="2">
                  <c:v>80000</c:v>
                </c:pt>
                <c:pt idx="3">
                  <c:v>8700</c:v>
                </c:pt>
                <c:pt idx="4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A3-4AE1-AD45-0EC2E1531F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AB8"/>
                </a:solidFill>
                <a:latin typeface="Arial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AB8"/>
                </a:solidFill>
                <a:latin typeface="Arial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50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58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5669280" cy="2926080"/>
          </a:xfrm>
          <a:prstGeom prst="rect">
            <a:avLst/>
          </a:prstGeom>
          <a:solidFill>
            <a:srgbClr val="0D1F3C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專題口試報告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937760" cy="0"/>
          </a:xfrm>
          <a:prstGeom prst="line">
            <a:avLst/>
          </a:prstGeom>
          <a:noFill/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66"/>
                </a:solidFill>
              </a:rPr>
              <a:t>專題題目：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區塊鏈技術應用於加密貨幣養成遊戲之設計與實作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225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66"/>
                </a:solidFill>
              </a:rPr>
              <a:t>專題生：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游紹維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24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66"/>
                </a:solidFill>
              </a:rPr>
              <a:t>指導教授：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7249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黃展鵬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127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66"/>
                </a:solidFill>
              </a:rPr>
              <a:t>單位：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127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國立勤益科技大學 資訊管理系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5295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66"/>
                </a:solidFill>
              </a:rPr>
              <a:t>日期：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專題口試發表，115年5月30日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1005840" cy="1005840"/>
          </a:xfrm>
          <a:prstGeom prst="ellipse">
            <a:avLst/>
          </a:prstGeom>
          <a:solidFill>
            <a:srgbClr val="F0B429">
              <a:alpha val="80000"/>
            </a:srgbClr>
          </a:solidFill>
          <a:ln w="254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₿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627EEA">
              <a:alpha val="80000"/>
            </a:srgbClr>
          </a:solidFill>
          <a:ln w="25400">
            <a:solidFill>
              <a:srgbClr val="62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Ξ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1005840" cy="1005840"/>
          </a:xfrm>
          <a:prstGeom prst="ellipse">
            <a:avLst/>
          </a:prstGeom>
          <a:solidFill>
            <a:srgbClr val="9945FF">
              <a:alpha val="80000"/>
            </a:srgbClr>
          </a:solidFill>
          <a:ln w="25400">
            <a:solidFill>
              <a:srgbClr val="994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◎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498080" y="2468880"/>
            <a:ext cx="1005840" cy="1005840"/>
          </a:xfrm>
          <a:prstGeom prst="ellipse">
            <a:avLst/>
          </a:prstGeom>
          <a:solidFill>
            <a:srgbClr val="F0B90B">
              <a:alpha val="80000"/>
            </a:srgbClr>
          </a:solidFill>
          <a:ln w="25400">
            <a:solidFill>
              <a:srgbClr val="F0B9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5216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</a:rPr>
              <a:t>CryptoPet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60120"/>
            <a:ext cx="731520" cy="73152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系統概述與目標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60120"/>
            <a:ext cx="731520" cy="73152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技術探討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71800"/>
            <a:ext cx="731520" cy="73152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專題敘述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971800"/>
            <a:ext cx="731520" cy="73152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6072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20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457200"/>
            <a:ext cx="4114800" cy="41148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系統概述與目標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CryptoPet 系統簡介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8595360" cy="1234440"/>
          </a:xfrm>
          <a:prstGeom prst="roundRect">
            <a:avLst>
              <a:gd name="adj" fmla="val 5926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CryptoPet 是一套結合 Ethereum 區塊鏈技術與遊戲化設計的加密貨幣養成遊戲系統，透過 Q 萌 NFT 寵物的養成與進化，讓用戶在輕鬆互動中接觸加密貨幣知識，降低參與門檻。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1572768" cy="256032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1005840" cy="1005840"/>
          </a:xfrm>
          <a:prstGeom prst="ellipse">
            <a:avLst/>
          </a:prstGeom>
          <a:solidFill>
            <a:srgbClr val="F5C518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" y="3337560"/>
            <a:ext cx="157276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每種幣種對應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一隻 Q 萌動物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93392" y="2057400"/>
            <a:ext cx="1572768" cy="256032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67712" y="2194560"/>
            <a:ext cx="1005840" cy="1005840"/>
          </a:xfrm>
          <a:prstGeom prst="ellipse">
            <a:avLst/>
          </a:prstGeom>
          <a:solidFill>
            <a:srgbClr val="4A90D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67712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93392" y="3337560"/>
            <a:ext cx="157276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ERC-721 NFT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鏈上唯一資產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12464" y="2057400"/>
            <a:ext cx="1572768" cy="256032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86784" y="2194560"/>
            <a:ext cx="1005840" cy="1005840"/>
          </a:xfrm>
          <a:prstGeom prst="ellipse">
            <a:avLst/>
          </a:prstGeom>
          <a:solidFill>
            <a:srgbClr val="9B59B6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86784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12464" y="3337560"/>
            <a:ext cx="157276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鏈上隨機進化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四級稀有度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31536" y="2057400"/>
            <a:ext cx="1572768" cy="256032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05856" y="2194560"/>
            <a:ext cx="1005840" cy="1005840"/>
          </a:xfrm>
          <a:prstGeom prst="ellipse">
            <a:avLst/>
          </a:prstGeom>
          <a:solidFill>
            <a:srgbClr val="52C41A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0585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31536" y="3337560"/>
            <a:ext cx="157276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圖鑑蒐集系統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激發持續動機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50608" y="2057400"/>
            <a:ext cx="1572768" cy="256032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24928" y="2194560"/>
            <a:ext cx="1005840" cy="1005840"/>
          </a:xfrm>
          <a:prstGeom prst="ellipse">
            <a:avLst/>
          </a:prstGeom>
          <a:solidFill>
            <a:srgbClr val="7EC8E3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24928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50608" y="3337560"/>
            <a:ext cx="157276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純靜態前端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無需後端伺服器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幣種與寵物對應關係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1572768" cy="36576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85800"/>
            <a:ext cx="1572768" cy="502920"/>
          </a:xfrm>
          <a:prstGeom prst="rect">
            <a:avLst/>
          </a:prstGeom>
          <a:solidFill>
            <a:srgbClr val="F7A800">
              <a:alpha val="85000"/>
            </a:srgbClr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85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BTC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" y="1280160"/>
            <a:ext cx="914400" cy="914400"/>
          </a:xfrm>
          <a:prstGeom prst="ellipse">
            <a:avLst/>
          </a:prstGeom>
          <a:solidFill>
            <a:srgbClr val="F7A80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23134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A800"/>
                </a:solidFill>
              </a:rPr>
              <a:t>比特貓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🥚 幼年期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375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🐣 成長期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</a:rPr>
              <a:t>🐉 成熟期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93392" y="685800"/>
            <a:ext cx="1572768" cy="36576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3392" y="685800"/>
            <a:ext cx="1572768" cy="502920"/>
          </a:xfrm>
          <a:prstGeom prst="rect">
            <a:avLst/>
          </a:prstGeom>
          <a:solidFill>
            <a:srgbClr val="627EEA">
              <a:alpha val="85000"/>
            </a:srgbClr>
          </a:solidFill>
          <a:ln w="12700">
            <a:solidFill>
              <a:srgbClr val="62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685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ETH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322576" y="1280160"/>
            <a:ext cx="914400" cy="914400"/>
          </a:xfrm>
          <a:prstGeom prst="ellipse">
            <a:avLst/>
          </a:prstGeom>
          <a:solidFill>
            <a:srgbClr val="627EEA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22576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993392" y="23134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27EEA"/>
                </a:solidFill>
              </a:rPr>
              <a:t>以太兔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084832" y="292608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29260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🥚 幼年期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4832" y="333756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33375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🐣 成長期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84832" y="374904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7490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</a:rPr>
              <a:t>🐉 成熟期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12464" y="685800"/>
            <a:ext cx="1572768" cy="36576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12464" y="685800"/>
            <a:ext cx="1572768" cy="502920"/>
          </a:xfrm>
          <a:prstGeom prst="rect">
            <a:avLst/>
          </a:prstGeom>
          <a:solidFill>
            <a:srgbClr val="9945FF">
              <a:alpha val="85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685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SOL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41648" y="1280160"/>
            <a:ext cx="914400" cy="914400"/>
          </a:xfrm>
          <a:prstGeom prst="ellipse">
            <a:avLst/>
          </a:prstGeom>
          <a:solidFill>
            <a:srgbClr val="9945FF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041648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712464" y="23134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45FF"/>
                </a:solidFill>
              </a:rPr>
              <a:t>索拉熊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803904" y="292608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3904" y="29260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🥚 幼年期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03904" y="333756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03904" y="33375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🐣 成長期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03904" y="374904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37490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</a:rPr>
              <a:t>🐉 成熟期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31536" y="685800"/>
            <a:ext cx="1572768" cy="36576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31536" y="685800"/>
            <a:ext cx="1572768" cy="502920"/>
          </a:xfrm>
          <a:prstGeom prst="rect">
            <a:avLst/>
          </a:prstGeom>
          <a:solidFill>
            <a:srgbClr val="F0B90B">
              <a:alpha val="85000"/>
            </a:srgbClr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1536" y="685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BNB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60720" y="1280160"/>
            <a:ext cx="914400" cy="914400"/>
          </a:xfrm>
          <a:prstGeom prst="ellipse">
            <a:avLst/>
          </a:prstGeom>
          <a:solidFill>
            <a:srgbClr val="F0B90B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7607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5431536" y="23134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90B"/>
                </a:solidFill>
              </a:rPr>
              <a:t>幣安狗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522976" y="292608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22976" y="29260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🥚 幼年期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22976" y="333756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22976" y="33375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🐣 成長期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22976" y="374904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22976" y="37490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</a:rPr>
              <a:t>🐉 成熟期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50608" y="685800"/>
            <a:ext cx="1572768" cy="365760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50608" y="685800"/>
            <a:ext cx="1572768" cy="502920"/>
          </a:xfrm>
          <a:prstGeom prst="rect">
            <a:avLst/>
          </a:prstGeom>
          <a:solidFill>
            <a:srgbClr val="C2A633">
              <a:alpha val="85000"/>
            </a:srgbClr>
          </a:solidFill>
          <a:ln w="12700">
            <a:solidFill>
              <a:srgbClr val="C2A6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0608" y="685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DOGE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479792" y="1280160"/>
            <a:ext cx="914400" cy="914400"/>
          </a:xfrm>
          <a:prstGeom prst="ellipse">
            <a:avLst/>
          </a:prstGeom>
          <a:solidFill>
            <a:srgbClr val="C2A633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479792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7150608" y="231343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A633"/>
                </a:solidFill>
              </a:rPr>
              <a:t>狗狗鼠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242048" y="292608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42048" y="29260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🥚 幼年期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242048" y="333756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42048" y="33375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🐣 成長期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42048" y="3749040"/>
            <a:ext cx="1389888" cy="347472"/>
          </a:xfrm>
          <a:prstGeom prst="roundRect">
            <a:avLst>
              <a:gd name="adj" fmla="val 10526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42048" y="37490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</a:rPr>
              <a:t>🐉 成熟期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4572000" cy="4572000"/>
          </a:xfrm>
          <a:prstGeom prst="ellipse">
            <a:avLst/>
          </a:prstGeom>
          <a:solidFill>
            <a:srgbClr val="4A90D9">
              <a:alpha val="18000"/>
            </a:srgbClr>
          </a:solidFill>
          <a:ln w="12700">
            <a:solidFill>
              <a:srgbClr val="4A90D9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技術探討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系統架構概觀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85800"/>
            <a:ext cx="2560320" cy="475488"/>
          </a:xfrm>
          <a:prstGeom prst="rect">
            <a:avLst/>
          </a:prstGeom>
          <a:solidFill>
            <a:srgbClr val="52C41A">
              <a:alpha val="82000"/>
            </a:srgbClr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85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前端遊戲介面層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261872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/ CSS / JavaScript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SVG 動物動畫　ethers.js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存檔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68580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685800"/>
            <a:ext cx="2560320" cy="475488"/>
          </a:xfrm>
          <a:prstGeom prst="rect">
            <a:avLst/>
          </a:prstGeom>
          <a:solidFill>
            <a:srgbClr val="4A90D9">
              <a:alpha val="8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685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智能合約層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261872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Solidity 0.8.28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OpenZeppelin ERC-721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CryptoPetNFT 合約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68580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685800"/>
            <a:ext cx="2560320" cy="475488"/>
          </a:xfrm>
          <a:prstGeom prst="rect">
            <a:avLst/>
          </a:prstGeom>
          <a:solidFill>
            <a:srgbClr val="F5C518">
              <a:alpha val="82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685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區塊鏈網路層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1261872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Ethereum Sepolia 測試網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去中心化 · 不可竄改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透明性 · Gas 費用機制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C518"/>
                </a:solidFill>
              </a:rPr>
              <a:t>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C518"/>
                </a:solidFill>
              </a:rPr>
              <a:t>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使用工具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本專題以 Solidity 為合約核心，結合 OpenZeppelin 安全框架與 Remix IDE 開發環境，前端採純靜態架構透過 ethers.js 串接 MetaMask 完成完整 Web3 互動。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353872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工具 / 函式庫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系統角色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關鍵特色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應用模組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Solidity 0.8.28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核心開發，智能合約語言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跨平台，支援 ERC 標準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🔵合約 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OpenZeppelin 5.0.0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ERC-721、Ownable 框架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業界安全標準，降低漏洞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🔵合約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Remix IDE 2.2.0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合約編譯/部署/測試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瀏覽器環境，無需安裝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🔵合約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ethers.js 6.9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前端合約串接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主流 Web3 庫，API 完整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🔵合約 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MetaMask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錢包與交易簽名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支援 Sepolia 測試網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HTML/CSS/JavaScript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遊戲介面開發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純靜態，無需後端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SVG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Q 萌動物繪製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向量圖形，縮放不失真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LocalStorage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持倉資料存檔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標準庫，資料持久化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🟡前端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27432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🔵合約模組　🟡前端模組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4572000" cy="4572000"/>
          </a:xfrm>
          <a:prstGeom prst="ellipse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專題敘述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1ECD5E9B-2F98-491A-8D32-D8DA0124D7C0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698852F7-1138-476E-8B65-00C9E80B58E7}"/>
              </a:ext>
            </a:extLst>
          </p:cNvPr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54B1D77A-BA52-4444-AFED-9676D7FC049C}"/>
              </a:ext>
            </a:extLst>
          </p:cNvPr>
          <p:cNvSpPr/>
          <p:nvPr/>
        </p:nvSpPr>
        <p:spPr>
          <a:xfrm>
            <a:off x="164592" y="54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總體結構系統流程圖</a:t>
            </a:r>
            <a:endParaRPr lang="en-US" sz="20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29E9ADE3-1D5B-4F71-8462-F257404745D4}"/>
              </a:ext>
            </a:extLst>
          </p:cNvPr>
          <p:cNvSpPr/>
          <p:nvPr/>
        </p:nvSpPr>
        <p:spPr>
          <a:xfrm>
            <a:off x="8321040" y="91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A9AB8"/>
                </a:solidFill>
              </a:rPr>
              <a:t>03</a:t>
            </a:r>
            <a:endParaRPr lang="en-US" sz="16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4A5570D-1359-45B3-B5C1-08665C70556C}"/>
              </a:ext>
            </a:extLst>
          </p:cNvPr>
          <p:cNvSpPr/>
          <p:nvPr/>
        </p:nvSpPr>
        <p:spPr>
          <a:xfrm>
            <a:off x="27432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展示使用者連接錢包、操作前端介面、觸發智能合約，以及合約執行後回傳結果、更新鏈上資料的完整互動流程。</a:t>
            </a:r>
            <a:endParaRPr lang="en-US" sz="11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341A24CD-CE3F-4937-8A97-2439B3115BCC}"/>
              </a:ext>
            </a:extLst>
          </p:cNvPr>
          <p:cNvSpPr/>
          <p:nvPr/>
        </p:nvSpPr>
        <p:spPr>
          <a:xfrm>
            <a:off x="256032" y="4818888"/>
            <a:ext cx="182880" cy="118872"/>
          </a:xfrm>
          <a:prstGeom prst="rect">
            <a:avLst/>
          </a:prstGeom>
          <a:solidFill>
            <a:srgbClr val="17A589">
              <a:alpha val="85000"/>
            </a:srgbClr>
          </a:solidFill>
          <a:ln w="10160">
            <a:solidFill>
              <a:srgbClr val="17A589"/>
            </a:solidFill>
            <a:prstDash val="solid"/>
          </a:ln>
        </p:spPr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491CCF0E-5993-4CBA-B139-CE1DBABEF8D7}"/>
              </a:ext>
            </a:extLst>
          </p:cNvPr>
          <p:cNvSpPr/>
          <p:nvPr/>
        </p:nvSpPr>
        <p:spPr>
          <a:xfrm>
            <a:off x="475488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開始/結束</a:t>
            </a:r>
            <a:endParaRPr lang="en-US" sz="9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FBA1A229-3139-4CC7-B224-7D22A2E0B8FF}"/>
              </a:ext>
            </a:extLst>
          </p:cNvPr>
          <p:cNvSpPr/>
          <p:nvPr/>
        </p:nvSpPr>
        <p:spPr>
          <a:xfrm>
            <a:off x="2011680" y="4818888"/>
            <a:ext cx="182880" cy="118872"/>
          </a:xfrm>
          <a:prstGeom prst="rect">
            <a:avLst/>
          </a:prstGeom>
          <a:solidFill>
            <a:srgbClr val="2E86C1">
              <a:alpha val="85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B30889A5-DBEC-47B6-966F-6E9C3909A550}"/>
              </a:ext>
            </a:extLst>
          </p:cNvPr>
          <p:cNvSpPr/>
          <p:nvPr/>
        </p:nvSpPr>
        <p:spPr>
          <a:xfrm>
            <a:off x="2231136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處理程序</a:t>
            </a:r>
            <a:endParaRPr lang="en-US" sz="9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EE0ADB56-0889-47C5-A3D8-937C9D5B8E6F}"/>
              </a:ext>
            </a:extLst>
          </p:cNvPr>
          <p:cNvSpPr/>
          <p:nvPr/>
        </p:nvSpPr>
        <p:spPr>
          <a:xfrm>
            <a:off x="3767328" y="4818888"/>
            <a:ext cx="182880" cy="118872"/>
          </a:xfrm>
          <a:prstGeom prst="rect">
            <a:avLst/>
          </a:prstGeom>
          <a:solidFill>
            <a:srgbClr val="F9A825">
              <a:alpha val="85000"/>
            </a:srgbClr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07B24B34-55EA-44F3-8570-1154BD0281A2}"/>
              </a:ext>
            </a:extLst>
          </p:cNvPr>
          <p:cNvSpPr/>
          <p:nvPr/>
        </p:nvSpPr>
        <p:spPr>
          <a:xfrm>
            <a:off x="3986784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判斷菱形</a:t>
            </a:r>
            <a:endParaRPr lang="en-US" sz="9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4279282-5438-4DF9-AC2B-B4D3B53486DD}"/>
              </a:ext>
            </a:extLst>
          </p:cNvPr>
          <p:cNvSpPr/>
          <p:nvPr/>
        </p:nvSpPr>
        <p:spPr>
          <a:xfrm>
            <a:off x="5522976" y="4818888"/>
            <a:ext cx="182880" cy="118872"/>
          </a:xfrm>
          <a:prstGeom prst="rect">
            <a:avLst/>
          </a:prstGeom>
          <a:solidFill>
            <a:srgbClr val="8E44AD">
              <a:alpha val="85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2CA360C2-E681-4CE2-A5FA-44FC3DA1DDD4}"/>
              </a:ext>
            </a:extLst>
          </p:cNvPr>
          <p:cNvSpPr/>
          <p:nvPr/>
        </p:nvSpPr>
        <p:spPr>
          <a:xfrm>
            <a:off x="5742432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資料/事件</a:t>
            </a:r>
            <a:endParaRPr lang="en-US" sz="9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802F6AAE-52C8-4144-A7FA-616CD7F0AE04}"/>
              </a:ext>
            </a:extLst>
          </p:cNvPr>
          <p:cNvSpPr/>
          <p:nvPr/>
        </p:nvSpPr>
        <p:spPr>
          <a:xfrm>
            <a:off x="7278624" y="4818888"/>
            <a:ext cx="182880" cy="118872"/>
          </a:xfrm>
          <a:prstGeom prst="rect">
            <a:avLst/>
          </a:prstGeom>
          <a:solidFill>
            <a:srgbClr val="E74C3C">
              <a:alpha val="85000"/>
            </a:srgbClr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CA5739FE-DDDD-4593-9557-9A3DD237E1F3}"/>
              </a:ext>
            </a:extLst>
          </p:cNvPr>
          <p:cNvSpPr/>
          <p:nvPr/>
        </p:nvSpPr>
        <p:spPr>
          <a:xfrm>
            <a:off x="7498080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revert</a:t>
            </a:r>
            <a:endParaRPr lang="en-US" sz="9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5B50A21E-3210-408D-A9FF-610B3C44D631}"/>
              </a:ext>
            </a:extLst>
          </p:cNvPr>
          <p:cNvSpPr/>
          <p:nvPr/>
        </p:nvSpPr>
        <p:spPr>
          <a:xfrm>
            <a:off x="274320" y="969264"/>
            <a:ext cx="2633472" cy="329184"/>
          </a:xfrm>
          <a:prstGeom prst="rect">
            <a:avLst/>
          </a:prstGeom>
          <a:solidFill>
            <a:srgbClr val="0D1F3C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ACBC4C5-3F9A-4C6E-A2AA-8D9326F46CF4}"/>
              </a:ext>
            </a:extLst>
          </p:cNvPr>
          <p:cNvSpPr/>
          <p:nvPr/>
        </p:nvSpPr>
        <p:spPr>
          <a:xfrm>
            <a:off x="274320" y="969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使用者端</a:t>
            </a:r>
            <a:endParaRPr lang="en-US" sz="1100" dirty="0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945240AF-75A7-4618-AF7B-C51878679ED6}"/>
              </a:ext>
            </a:extLst>
          </p:cNvPr>
          <p:cNvSpPr/>
          <p:nvPr/>
        </p:nvSpPr>
        <p:spPr>
          <a:xfrm>
            <a:off x="3154680" y="969264"/>
            <a:ext cx="2633472" cy="329184"/>
          </a:xfrm>
          <a:prstGeom prst="rect">
            <a:avLst/>
          </a:prstGeom>
          <a:solidFill>
            <a:srgbClr val="0D1F3C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859DA73F-BC8E-4170-9231-8107976C2E93}"/>
              </a:ext>
            </a:extLst>
          </p:cNvPr>
          <p:cNvSpPr/>
          <p:nvPr/>
        </p:nvSpPr>
        <p:spPr>
          <a:xfrm>
            <a:off x="3154680" y="969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前端遊戲介面 (ethers.js)</a:t>
            </a:r>
            <a:endParaRPr lang="en-US" sz="1100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24B71AAC-49AC-4E00-89ED-2CBFACBAA783}"/>
              </a:ext>
            </a:extLst>
          </p:cNvPr>
          <p:cNvSpPr/>
          <p:nvPr/>
        </p:nvSpPr>
        <p:spPr>
          <a:xfrm>
            <a:off x="6035040" y="969264"/>
            <a:ext cx="2633472" cy="329184"/>
          </a:xfrm>
          <a:prstGeom prst="rect">
            <a:avLst/>
          </a:prstGeom>
          <a:solidFill>
            <a:srgbClr val="0D1F3C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8BCDF3D8-5C34-4608-AE70-E287536A8237}"/>
              </a:ext>
            </a:extLst>
          </p:cNvPr>
          <p:cNvSpPr/>
          <p:nvPr/>
        </p:nvSpPr>
        <p:spPr>
          <a:xfrm>
            <a:off x="6035040" y="969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智能合約 / Ethereum</a:t>
            </a:r>
            <a:endParaRPr lang="en-US" sz="1100" dirty="0"/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FCD0E3D4-C584-4FA7-B029-36EB1C1E3680}"/>
              </a:ext>
            </a:extLst>
          </p:cNvPr>
          <p:cNvSpPr/>
          <p:nvPr/>
        </p:nvSpPr>
        <p:spPr>
          <a:xfrm>
            <a:off x="3136392" y="950976"/>
            <a:ext cx="0" cy="3803904"/>
          </a:xfrm>
          <a:prstGeom prst="line">
            <a:avLst/>
          </a:prstGeom>
          <a:noFill/>
          <a:ln w="8890">
            <a:solidFill>
              <a:srgbClr val="1E3A5F"/>
            </a:solidFill>
            <a:prstDash val="dash"/>
          </a:ln>
        </p:spPr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1E5CAA35-0863-4C30-B6DE-EBBB99EA19A6}"/>
              </a:ext>
            </a:extLst>
          </p:cNvPr>
          <p:cNvSpPr/>
          <p:nvPr/>
        </p:nvSpPr>
        <p:spPr>
          <a:xfrm>
            <a:off x="6016752" y="950976"/>
            <a:ext cx="0" cy="3803904"/>
          </a:xfrm>
          <a:prstGeom prst="line">
            <a:avLst/>
          </a:prstGeom>
          <a:noFill/>
          <a:ln w="8890">
            <a:solidFill>
              <a:srgbClr val="1E3A5F"/>
            </a:solidFill>
            <a:prstDash val="dash"/>
          </a:ln>
        </p:spPr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7A588C43-F650-4F1F-B323-24A9EEA1D861}"/>
              </a:ext>
            </a:extLst>
          </p:cNvPr>
          <p:cNvSpPr/>
          <p:nvPr/>
        </p:nvSpPr>
        <p:spPr>
          <a:xfrm>
            <a:off x="274320" y="1389888"/>
            <a:ext cx="2633472" cy="402336"/>
          </a:xfrm>
          <a:prstGeom prst="roundRect">
            <a:avLst>
              <a:gd name="adj" fmla="val 48000"/>
            </a:avLst>
          </a:prstGeom>
          <a:solidFill>
            <a:srgbClr val="0E6655">
              <a:alpha val="92000"/>
            </a:srgbClr>
          </a:solidFill>
          <a:ln w="25400">
            <a:solidFill>
              <a:srgbClr val="17A589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19B34424-95BB-4E4F-A0D8-E768F0FAEB0B}"/>
              </a:ext>
            </a:extLst>
          </p:cNvPr>
          <p:cNvSpPr/>
          <p:nvPr/>
        </p:nvSpPr>
        <p:spPr>
          <a:xfrm>
            <a:off x="274320" y="1389888"/>
            <a:ext cx="263347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 MetaMask 錢包</a:t>
            </a:r>
            <a:endParaRPr lang="en-US" sz="1100" dirty="0"/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AB2900F8-0053-4531-876B-A637FEC10C39}"/>
              </a:ext>
            </a:extLst>
          </p:cNvPr>
          <p:cNvSpPr/>
          <p:nvPr/>
        </p:nvSpPr>
        <p:spPr>
          <a:xfrm>
            <a:off x="2907792" y="1591056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86196EDD-AE04-4418-9F07-B9276AA0B08F}"/>
              </a:ext>
            </a:extLst>
          </p:cNvPr>
          <p:cNvSpPr/>
          <p:nvPr/>
        </p:nvSpPr>
        <p:spPr>
          <a:xfrm>
            <a:off x="2779776" y="13898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請求</a:t>
            </a:r>
            <a:endParaRPr lang="en-US" sz="90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7365123B-365D-4D9F-A43A-F4F8116C61BF}"/>
              </a:ext>
            </a:extLst>
          </p:cNvPr>
          <p:cNvSpPr/>
          <p:nvPr/>
        </p:nvSpPr>
        <p:spPr>
          <a:xfrm>
            <a:off x="3154680" y="1389888"/>
            <a:ext cx="2633472" cy="402336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F29660C9-3426-45CE-83E2-9B5167636CE8}"/>
              </a:ext>
            </a:extLst>
          </p:cNvPr>
          <p:cNvSpPr/>
          <p:nvPr/>
        </p:nvSpPr>
        <p:spPr>
          <a:xfrm>
            <a:off x="3154680" y="1389888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ethers.js 連接錢包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signer 物件</a:t>
            </a:r>
            <a:endParaRPr lang="en-US" sz="1100" dirty="0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655B2C2B-4918-483A-A008-AF6411741765}"/>
              </a:ext>
            </a:extLst>
          </p:cNvPr>
          <p:cNvSpPr/>
          <p:nvPr/>
        </p:nvSpPr>
        <p:spPr>
          <a:xfrm>
            <a:off x="5788152" y="1591056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EC04CDC9-1FEB-4635-B8D5-F7C3A89D3A24}"/>
              </a:ext>
            </a:extLst>
          </p:cNvPr>
          <p:cNvSpPr/>
          <p:nvPr/>
        </p:nvSpPr>
        <p:spPr>
          <a:xfrm>
            <a:off x="5660136" y="13898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驗證</a:t>
            </a:r>
            <a:endParaRPr lang="en-US" sz="90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3F847560-790D-4AEB-88D8-223FE819333D}"/>
              </a:ext>
            </a:extLst>
          </p:cNvPr>
          <p:cNvSpPr/>
          <p:nvPr/>
        </p:nvSpPr>
        <p:spPr>
          <a:xfrm>
            <a:off x="6035040" y="1389888"/>
            <a:ext cx="2633472" cy="402336"/>
          </a:xfrm>
          <a:prstGeom prst="rect">
            <a:avLst/>
          </a:prstGeom>
          <a:solidFill>
            <a:srgbClr val="0E6655">
              <a:alpha val="88000"/>
            </a:srgbClr>
          </a:solidFill>
          <a:ln w="19050">
            <a:solidFill>
              <a:srgbClr val="0E665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B629D0C5-38B8-4E2D-882B-0C5AD1107CAA}"/>
              </a:ext>
            </a:extLst>
          </p:cNvPr>
          <p:cNvSpPr/>
          <p:nvPr/>
        </p:nvSpPr>
        <p:spPr>
          <a:xfrm>
            <a:off x="6035040" y="1389888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Sepolia 測試網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驗證錢包地址</a:t>
            </a:r>
            <a:endParaRPr lang="en-US" sz="1100" dirty="0"/>
          </a:p>
        </p:txBody>
      </p:sp>
      <p:sp>
        <p:nvSpPr>
          <p:cNvPr id="66" name="Shape 33">
            <a:extLst>
              <a:ext uri="{FF2B5EF4-FFF2-40B4-BE49-F238E27FC236}">
                <a16:creationId xmlns:a16="http://schemas.microsoft.com/office/drawing/2014/main" id="{CB97C3DC-3606-49D8-AB5E-361C36758A6C}"/>
              </a:ext>
            </a:extLst>
          </p:cNvPr>
          <p:cNvSpPr/>
          <p:nvPr/>
        </p:nvSpPr>
        <p:spPr>
          <a:xfrm>
            <a:off x="1591056" y="1792224"/>
            <a:ext cx="0" cy="219456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BCFD7E5C-152A-49EC-92A2-141797FF2373}"/>
              </a:ext>
            </a:extLst>
          </p:cNvPr>
          <p:cNvSpPr/>
          <p:nvPr/>
        </p:nvSpPr>
        <p:spPr>
          <a:xfrm rot="2700000">
            <a:off x="1275039" y="2134575"/>
            <a:ext cx="632033" cy="632033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9392A67D-9D97-4DE3-BA69-DF179614BC94}"/>
              </a:ext>
            </a:extLst>
          </p:cNvPr>
          <p:cNvSpPr/>
          <p:nvPr/>
        </p:nvSpPr>
        <p:spPr>
          <a:xfrm>
            <a:off x="274320" y="2099462"/>
            <a:ext cx="2633472" cy="70225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操作選擇？</a:t>
            </a:r>
            <a:endParaRPr lang="en-US" sz="1000" dirty="0"/>
          </a:p>
        </p:txBody>
      </p:sp>
      <p:sp>
        <p:nvSpPr>
          <p:cNvPr id="69" name="Shape 36">
            <a:extLst>
              <a:ext uri="{FF2B5EF4-FFF2-40B4-BE49-F238E27FC236}">
                <a16:creationId xmlns:a16="http://schemas.microsoft.com/office/drawing/2014/main" id="{A417D935-BFDD-49AD-BB42-517A306290B5}"/>
              </a:ext>
            </a:extLst>
          </p:cNvPr>
          <p:cNvSpPr/>
          <p:nvPr/>
        </p:nvSpPr>
        <p:spPr>
          <a:xfrm>
            <a:off x="2907792" y="2450592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D7B290DA-394D-46AC-A86A-C172D8BABA6E}"/>
              </a:ext>
            </a:extLst>
          </p:cNvPr>
          <p:cNvSpPr/>
          <p:nvPr/>
        </p:nvSpPr>
        <p:spPr>
          <a:xfrm>
            <a:off x="2779776" y="224942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孵化</a:t>
            </a:r>
            <a:endParaRPr lang="en-US" sz="900" dirty="0"/>
          </a:p>
        </p:txBody>
      </p:sp>
      <p:sp>
        <p:nvSpPr>
          <p:cNvPr id="71" name="Shape 38">
            <a:extLst>
              <a:ext uri="{FF2B5EF4-FFF2-40B4-BE49-F238E27FC236}">
                <a16:creationId xmlns:a16="http://schemas.microsoft.com/office/drawing/2014/main" id="{49C18471-044E-4BC0-91C2-BD6488FE0491}"/>
              </a:ext>
            </a:extLst>
          </p:cNvPr>
          <p:cNvSpPr/>
          <p:nvPr/>
        </p:nvSpPr>
        <p:spPr>
          <a:xfrm>
            <a:off x="3154680" y="2304288"/>
            <a:ext cx="2633472" cy="402336"/>
          </a:xfrm>
          <a:prstGeom prst="rect">
            <a:avLst/>
          </a:prstGeom>
          <a:solidFill>
            <a:srgbClr val="27AE60">
              <a:alpha val="88000"/>
            </a:srgbClr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2" name="Text 39">
            <a:extLst>
              <a:ext uri="{FF2B5EF4-FFF2-40B4-BE49-F238E27FC236}">
                <a16:creationId xmlns:a16="http://schemas.microsoft.com/office/drawing/2014/main" id="{6A9B0ECC-17EA-44BB-8629-E53B0E4075BE}"/>
              </a:ext>
            </a:extLst>
          </p:cNvPr>
          <p:cNvSpPr/>
          <p:nvPr/>
        </p:nvSpPr>
        <p:spPr>
          <a:xfrm>
            <a:off x="3154680" y="2304288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輸入幣種 &amp; 金額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mintPet()</a:t>
            </a:r>
            <a:endParaRPr lang="en-US" sz="1100" dirty="0"/>
          </a:p>
        </p:txBody>
      </p:sp>
      <p:sp>
        <p:nvSpPr>
          <p:cNvPr id="73" name="Shape 40">
            <a:extLst>
              <a:ext uri="{FF2B5EF4-FFF2-40B4-BE49-F238E27FC236}">
                <a16:creationId xmlns:a16="http://schemas.microsoft.com/office/drawing/2014/main" id="{D7E16D80-8EFD-4B6C-B159-3C901EE6828F}"/>
              </a:ext>
            </a:extLst>
          </p:cNvPr>
          <p:cNvSpPr/>
          <p:nvPr/>
        </p:nvSpPr>
        <p:spPr>
          <a:xfrm>
            <a:off x="5788152" y="2505456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74" name="Shape 41">
            <a:extLst>
              <a:ext uri="{FF2B5EF4-FFF2-40B4-BE49-F238E27FC236}">
                <a16:creationId xmlns:a16="http://schemas.microsoft.com/office/drawing/2014/main" id="{2B6683E3-852F-4145-9CE7-A1B0D0F2DE4E}"/>
              </a:ext>
            </a:extLst>
          </p:cNvPr>
          <p:cNvSpPr/>
          <p:nvPr/>
        </p:nvSpPr>
        <p:spPr>
          <a:xfrm>
            <a:off x="6035040" y="2304288"/>
            <a:ext cx="2633472" cy="402336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46441E0B-A6BC-4D03-A836-741428E2355D}"/>
              </a:ext>
            </a:extLst>
          </p:cNvPr>
          <p:cNvSpPr/>
          <p:nvPr/>
        </p:nvSpPr>
        <p:spPr>
          <a:xfrm>
            <a:off x="6035040" y="2304288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驗證手續費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0.001 ETH</a:t>
            </a:r>
            <a:endParaRPr lang="en-US" sz="1100" dirty="0"/>
          </a:p>
        </p:txBody>
      </p:sp>
      <p:sp>
        <p:nvSpPr>
          <p:cNvPr id="76" name="Shape 43">
            <a:extLst>
              <a:ext uri="{FF2B5EF4-FFF2-40B4-BE49-F238E27FC236}">
                <a16:creationId xmlns:a16="http://schemas.microsoft.com/office/drawing/2014/main" id="{1BFE88C6-6FA1-4AE8-98D5-4D3C1444A791}"/>
              </a:ext>
            </a:extLst>
          </p:cNvPr>
          <p:cNvSpPr/>
          <p:nvPr/>
        </p:nvSpPr>
        <p:spPr>
          <a:xfrm>
            <a:off x="1591056" y="2889504"/>
            <a:ext cx="0" cy="219456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77" name="Text 44">
            <a:extLst>
              <a:ext uri="{FF2B5EF4-FFF2-40B4-BE49-F238E27FC236}">
                <a16:creationId xmlns:a16="http://schemas.microsoft.com/office/drawing/2014/main" id="{42822183-6054-4CA9-B764-92F9D1CF4A68}"/>
              </a:ext>
            </a:extLst>
          </p:cNvPr>
          <p:cNvSpPr/>
          <p:nvPr/>
        </p:nvSpPr>
        <p:spPr>
          <a:xfrm>
            <a:off x="1133856" y="28986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進化</a:t>
            </a:r>
            <a:endParaRPr lang="en-US" sz="900" dirty="0"/>
          </a:p>
        </p:txBody>
      </p:sp>
      <p:sp>
        <p:nvSpPr>
          <p:cNvPr id="78" name="Shape 45">
            <a:extLst>
              <a:ext uri="{FF2B5EF4-FFF2-40B4-BE49-F238E27FC236}">
                <a16:creationId xmlns:a16="http://schemas.microsoft.com/office/drawing/2014/main" id="{A090463D-125B-47F5-88C7-DF06F011A752}"/>
              </a:ext>
            </a:extLst>
          </p:cNvPr>
          <p:cNvSpPr/>
          <p:nvPr/>
        </p:nvSpPr>
        <p:spPr>
          <a:xfrm>
            <a:off x="274320" y="3108960"/>
            <a:ext cx="2633472" cy="402336"/>
          </a:xfrm>
          <a:prstGeom prst="rect">
            <a:avLst/>
          </a:prstGeom>
          <a:solidFill>
            <a:srgbClr val="8E44AD">
              <a:alpha val="88000"/>
            </a:srgbClr>
          </a:solidFill>
          <a:ln w="1905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9" name="Text 46">
            <a:extLst>
              <a:ext uri="{FF2B5EF4-FFF2-40B4-BE49-F238E27FC236}">
                <a16:creationId xmlns:a16="http://schemas.microsoft.com/office/drawing/2014/main" id="{4C3FAB8B-F69B-41A1-8F67-F864D80C0EFC}"/>
              </a:ext>
            </a:extLst>
          </p:cNvPr>
          <p:cNvSpPr/>
          <p:nvPr/>
        </p:nvSpPr>
        <p:spPr>
          <a:xfrm>
            <a:off x="274320" y="3108960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點擊寵物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evolve(tokenId)</a:t>
            </a:r>
            <a:endParaRPr lang="en-US" sz="1100" dirty="0"/>
          </a:p>
        </p:txBody>
      </p:sp>
      <p:sp>
        <p:nvSpPr>
          <p:cNvPr id="80" name="Shape 47">
            <a:extLst>
              <a:ext uri="{FF2B5EF4-FFF2-40B4-BE49-F238E27FC236}">
                <a16:creationId xmlns:a16="http://schemas.microsoft.com/office/drawing/2014/main" id="{4CEB22BA-03E1-4017-ABEE-A0F4F276FBC8}"/>
              </a:ext>
            </a:extLst>
          </p:cNvPr>
          <p:cNvSpPr/>
          <p:nvPr/>
        </p:nvSpPr>
        <p:spPr>
          <a:xfrm>
            <a:off x="2907792" y="3310128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81" name="Shape 48">
            <a:extLst>
              <a:ext uri="{FF2B5EF4-FFF2-40B4-BE49-F238E27FC236}">
                <a16:creationId xmlns:a16="http://schemas.microsoft.com/office/drawing/2014/main" id="{A3961C18-7B79-4713-9D68-02CB754A1418}"/>
              </a:ext>
            </a:extLst>
          </p:cNvPr>
          <p:cNvSpPr/>
          <p:nvPr/>
        </p:nvSpPr>
        <p:spPr>
          <a:xfrm>
            <a:off x="3154680" y="3108960"/>
            <a:ext cx="2633472" cy="402336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569A79AC-45EA-4ABF-9280-4B057CD80CF4}"/>
              </a:ext>
            </a:extLst>
          </p:cNvPr>
          <p:cNvSpPr/>
          <p:nvPr/>
        </p:nvSpPr>
        <p:spPr>
          <a:xfrm>
            <a:off x="3154680" y="3108960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傳送交易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MetaMask 簽名確認</a:t>
            </a:r>
            <a:endParaRPr lang="en-US" sz="1100" dirty="0"/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93656A85-0189-48DB-A616-82CCD7122859}"/>
              </a:ext>
            </a:extLst>
          </p:cNvPr>
          <p:cNvSpPr/>
          <p:nvPr/>
        </p:nvSpPr>
        <p:spPr>
          <a:xfrm>
            <a:off x="5788152" y="3310128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84" name="Shape 51">
            <a:extLst>
              <a:ext uri="{FF2B5EF4-FFF2-40B4-BE49-F238E27FC236}">
                <a16:creationId xmlns:a16="http://schemas.microsoft.com/office/drawing/2014/main" id="{1FCFE3ED-2E8F-48A0-BF78-74659735DA37}"/>
              </a:ext>
            </a:extLst>
          </p:cNvPr>
          <p:cNvSpPr/>
          <p:nvPr/>
        </p:nvSpPr>
        <p:spPr>
          <a:xfrm>
            <a:off x="6035040" y="3108960"/>
            <a:ext cx="2633472" cy="402336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5" name="Text 52">
            <a:extLst>
              <a:ext uri="{FF2B5EF4-FFF2-40B4-BE49-F238E27FC236}">
                <a16:creationId xmlns:a16="http://schemas.microsoft.com/office/drawing/2014/main" id="{6112C059-25A2-4264-82AB-32519E4600CC}"/>
              </a:ext>
            </a:extLst>
          </p:cNvPr>
          <p:cNvSpPr/>
          <p:nvPr/>
        </p:nvSpPr>
        <p:spPr>
          <a:xfrm>
            <a:off x="6035040" y="3108960"/>
            <a:ext cx="263347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驗證擁有者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&lt; 2</a:t>
            </a:r>
            <a:endParaRPr lang="en-US" sz="1100" dirty="0"/>
          </a:p>
        </p:txBody>
      </p:sp>
      <p:sp>
        <p:nvSpPr>
          <p:cNvPr id="86" name="Shape 53">
            <a:extLst>
              <a:ext uri="{FF2B5EF4-FFF2-40B4-BE49-F238E27FC236}">
                <a16:creationId xmlns:a16="http://schemas.microsoft.com/office/drawing/2014/main" id="{0FD816CE-965D-4959-886A-5D5E773DB97C}"/>
              </a:ext>
            </a:extLst>
          </p:cNvPr>
          <p:cNvSpPr/>
          <p:nvPr/>
        </p:nvSpPr>
        <p:spPr>
          <a:xfrm>
            <a:off x="7351776" y="3511296"/>
            <a:ext cx="0" cy="201168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87" name="Shape 54">
            <a:extLst>
              <a:ext uri="{FF2B5EF4-FFF2-40B4-BE49-F238E27FC236}">
                <a16:creationId xmlns:a16="http://schemas.microsoft.com/office/drawing/2014/main" id="{3451355B-757A-4FE0-9540-327BCA9575D2}"/>
              </a:ext>
            </a:extLst>
          </p:cNvPr>
          <p:cNvSpPr/>
          <p:nvPr/>
        </p:nvSpPr>
        <p:spPr>
          <a:xfrm rot="2700000">
            <a:off x="7081845" y="3817437"/>
            <a:ext cx="539862" cy="539862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8" name="Text 55">
            <a:extLst>
              <a:ext uri="{FF2B5EF4-FFF2-40B4-BE49-F238E27FC236}">
                <a16:creationId xmlns:a16="http://schemas.microsoft.com/office/drawing/2014/main" id="{DA798250-180B-474D-9C4C-6ADB709A73E6}"/>
              </a:ext>
            </a:extLst>
          </p:cNvPr>
          <p:cNvSpPr/>
          <p:nvPr/>
        </p:nvSpPr>
        <p:spPr>
          <a:xfrm>
            <a:off x="6035040" y="3787445"/>
            <a:ext cx="2633472" cy="59984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驗證通過？</a:t>
            </a:r>
            <a:endParaRPr lang="en-US" sz="1000" dirty="0"/>
          </a:p>
        </p:txBody>
      </p:sp>
      <p:sp>
        <p:nvSpPr>
          <p:cNvPr id="89" name="Shape 56">
            <a:extLst>
              <a:ext uri="{FF2B5EF4-FFF2-40B4-BE49-F238E27FC236}">
                <a16:creationId xmlns:a16="http://schemas.microsoft.com/office/drawing/2014/main" id="{806B6565-9648-4AEA-BDF7-379660AF0A89}"/>
              </a:ext>
            </a:extLst>
          </p:cNvPr>
          <p:cNvSpPr/>
          <p:nvPr/>
        </p:nvSpPr>
        <p:spPr>
          <a:xfrm>
            <a:off x="6035040" y="4087368"/>
            <a:ext cx="0" cy="0"/>
          </a:xfrm>
          <a:prstGeom prst="line">
            <a:avLst/>
          </a:prstGeom>
          <a:noFill/>
          <a:ln w="17780">
            <a:solidFill>
              <a:srgbClr val="E74C3C"/>
            </a:solidFill>
            <a:prstDash val="solid"/>
          </a:ln>
        </p:spPr>
      </p:sp>
      <p:sp>
        <p:nvSpPr>
          <p:cNvPr id="90" name="Text 57">
            <a:extLst>
              <a:ext uri="{FF2B5EF4-FFF2-40B4-BE49-F238E27FC236}">
                <a16:creationId xmlns:a16="http://schemas.microsoft.com/office/drawing/2014/main" id="{1157014B-BF13-4167-AE9D-44BEE46B7F23}"/>
              </a:ext>
            </a:extLst>
          </p:cNvPr>
          <p:cNvSpPr/>
          <p:nvPr/>
        </p:nvSpPr>
        <p:spPr>
          <a:xfrm>
            <a:off x="5541264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4C3C"/>
                </a:solidFill>
              </a:rPr>
              <a:t>否</a:t>
            </a:r>
            <a:endParaRPr lang="en-US" sz="900" dirty="0"/>
          </a:p>
        </p:txBody>
      </p:sp>
      <p:sp>
        <p:nvSpPr>
          <p:cNvPr id="91" name="Shape 58">
            <a:extLst>
              <a:ext uri="{FF2B5EF4-FFF2-40B4-BE49-F238E27FC236}">
                <a16:creationId xmlns:a16="http://schemas.microsoft.com/office/drawing/2014/main" id="{AF30CF2B-15D8-434E-AE1B-30AE435CB7A2}"/>
              </a:ext>
            </a:extLst>
          </p:cNvPr>
          <p:cNvSpPr/>
          <p:nvPr/>
        </p:nvSpPr>
        <p:spPr>
          <a:xfrm>
            <a:off x="3218688" y="3913632"/>
            <a:ext cx="1243584" cy="347472"/>
          </a:xfrm>
          <a:prstGeom prst="roundRect">
            <a:avLst>
              <a:gd name="adj" fmla="val 26316"/>
            </a:avLst>
          </a:prstGeom>
          <a:solidFill>
            <a:srgbClr val="7B241C">
              <a:alpha val="92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2" name="Text 59">
            <a:extLst>
              <a:ext uri="{FF2B5EF4-FFF2-40B4-BE49-F238E27FC236}">
                <a16:creationId xmlns:a16="http://schemas.microsoft.com/office/drawing/2014/main" id="{E65631BB-1BDF-495B-8939-7D958C7F758E}"/>
              </a:ext>
            </a:extLst>
          </p:cNvPr>
          <p:cNvSpPr/>
          <p:nvPr/>
        </p:nvSpPr>
        <p:spPr>
          <a:xfrm>
            <a:off x="3218688" y="3913632"/>
            <a:ext cx="12435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revert 拒絕</a:t>
            </a:r>
            <a:endParaRPr lang="en-US" sz="1000" dirty="0"/>
          </a:p>
        </p:txBody>
      </p:sp>
      <p:sp>
        <p:nvSpPr>
          <p:cNvPr id="93" name="Shape 60">
            <a:extLst>
              <a:ext uri="{FF2B5EF4-FFF2-40B4-BE49-F238E27FC236}">
                <a16:creationId xmlns:a16="http://schemas.microsoft.com/office/drawing/2014/main" id="{374182DE-54EB-4679-9EB3-58E6962693E4}"/>
              </a:ext>
            </a:extLst>
          </p:cNvPr>
          <p:cNvSpPr/>
          <p:nvPr/>
        </p:nvSpPr>
        <p:spPr>
          <a:xfrm>
            <a:off x="7351776" y="4462272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94" name="Text 61">
            <a:extLst>
              <a:ext uri="{FF2B5EF4-FFF2-40B4-BE49-F238E27FC236}">
                <a16:creationId xmlns:a16="http://schemas.microsoft.com/office/drawing/2014/main" id="{57DD0B25-E4E5-4064-954E-0233B3CC5A8B}"/>
              </a:ext>
            </a:extLst>
          </p:cNvPr>
          <p:cNvSpPr/>
          <p:nvPr/>
        </p:nvSpPr>
        <p:spPr>
          <a:xfrm>
            <a:off x="7424928" y="44531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是</a:t>
            </a:r>
            <a:endParaRPr lang="en-US" sz="900" dirty="0"/>
          </a:p>
        </p:txBody>
      </p:sp>
      <p:sp>
        <p:nvSpPr>
          <p:cNvPr id="95" name="Shape 62">
            <a:extLst>
              <a:ext uri="{FF2B5EF4-FFF2-40B4-BE49-F238E27FC236}">
                <a16:creationId xmlns:a16="http://schemas.microsoft.com/office/drawing/2014/main" id="{CAF1D48C-1288-480F-B81A-90FAFFEEEB37}"/>
              </a:ext>
            </a:extLst>
          </p:cNvPr>
          <p:cNvSpPr/>
          <p:nvPr/>
        </p:nvSpPr>
        <p:spPr>
          <a:xfrm>
            <a:off x="6035040" y="4645152"/>
            <a:ext cx="2633472" cy="164592"/>
          </a:xfrm>
          <a:prstGeom prst="rect">
            <a:avLst/>
          </a:prstGeom>
          <a:solidFill>
            <a:srgbClr val="4A235A">
              <a:alpha val="88000"/>
            </a:srgbClr>
          </a:solidFill>
          <a:ln w="19050">
            <a:solidFill>
              <a:srgbClr val="4A235A"/>
            </a:solidFill>
            <a:prstDash val="sysDot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6" name="Text 63">
            <a:extLst>
              <a:ext uri="{FF2B5EF4-FFF2-40B4-BE49-F238E27FC236}">
                <a16:creationId xmlns:a16="http://schemas.microsoft.com/office/drawing/2014/main" id="{01C5D649-99BF-43C7-9C1C-FE6D0D16A1F8}"/>
              </a:ext>
            </a:extLst>
          </p:cNvPr>
          <p:cNvSpPr/>
          <p:nvPr/>
        </p:nvSpPr>
        <p:spPr>
          <a:xfrm>
            <a:off x="6035040" y="4645152"/>
            <a:ext cx="263347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NFT鑄造/稀有度計算 → 發送鏈上事件</a:t>
            </a:r>
            <a:endParaRPr lang="en-US" sz="1000" dirty="0"/>
          </a:p>
        </p:txBody>
      </p:sp>
      <p:sp>
        <p:nvSpPr>
          <p:cNvPr id="97" name="Shape 64">
            <a:extLst>
              <a:ext uri="{FF2B5EF4-FFF2-40B4-BE49-F238E27FC236}">
                <a16:creationId xmlns:a16="http://schemas.microsoft.com/office/drawing/2014/main" id="{FDC907F7-A6F6-4B79-BC7F-780F706683DF}"/>
              </a:ext>
            </a:extLst>
          </p:cNvPr>
          <p:cNvSpPr/>
          <p:nvPr/>
        </p:nvSpPr>
        <p:spPr>
          <a:xfrm>
            <a:off x="5779008" y="4727448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98" name="Text 65">
            <a:extLst>
              <a:ext uri="{FF2B5EF4-FFF2-40B4-BE49-F238E27FC236}">
                <a16:creationId xmlns:a16="http://schemas.microsoft.com/office/drawing/2014/main" id="{9C5EDB8A-74C7-4B59-9E1F-19F07E5CABA8}"/>
              </a:ext>
            </a:extLst>
          </p:cNvPr>
          <p:cNvSpPr/>
          <p:nvPr/>
        </p:nvSpPr>
        <p:spPr>
          <a:xfrm>
            <a:off x="5650992" y="45262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回傳</a:t>
            </a:r>
            <a:endParaRPr lang="en-US" sz="900" dirty="0"/>
          </a:p>
        </p:txBody>
      </p:sp>
      <p:sp>
        <p:nvSpPr>
          <p:cNvPr id="99" name="Shape 66">
            <a:extLst>
              <a:ext uri="{FF2B5EF4-FFF2-40B4-BE49-F238E27FC236}">
                <a16:creationId xmlns:a16="http://schemas.microsoft.com/office/drawing/2014/main" id="{76E4A562-BF93-42AC-9C05-217ACC6FC522}"/>
              </a:ext>
            </a:extLst>
          </p:cNvPr>
          <p:cNvSpPr/>
          <p:nvPr/>
        </p:nvSpPr>
        <p:spPr>
          <a:xfrm>
            <a:off x="3154680" y="4645152"/>
            <a:ext cx="2633472" cy="164592"/>
          </a:xfrm>
          <a:prstGeom prst="rect">
            <a:avLst/>
          </a:prstGeom>
          <a:solidFill>
            <a:srgbClr val="0E6655">
              <a:alpha val="88000"/>
            </a:srgbClr>
          </a:solidFill>
          <a:ln w="19050">
            <a:solidFill>
              <a:srgbClr val="0E6655"/>
            </a:solidFill>
            <a:prstDash val="sysDot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0" name="Text 67">
            <a:extLst>
              <a:ext uri="{FF2B5EF4-FFF2-40B4-BE49-F238E27FC236}">
                <a16:creationId xmlns:a16="http://schemas.microsoft.com/office/drawing/2014/main" id="{1E8A68E2-9EE4-45B3-A7E8-E453FB4A533F}"/>
              </a:ext>
            </a:extLst>
          </p:cNvPr>
          <p:cNvSpPr/>
          <p:nvPr/>
        </p:nvSpPr>
        <p:spPr>
          <a:xfrm>
            <a:off x="3154680" y="4645152"/>
            <a:ext cx="263347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事件監聽 → 前端 UI 更新</a:t>
            </a:r>
            <a:endParaRPr lang="en-US" sz="1000" dirty="0"/>
          </a:p>
        </p:txBody>
      </p:sp>
      <p:sp>
        <p:nvSpPr>
          <p:cNvPr id="101" name="Shape 68">
            <a:extLst>
              <a:ext uri="{FF2B5EF4-FFF2-40B4-BE49-F238E27FC236}">
                <a16:creationId xmlns:a16="http://schemas.microsoft.com/office/drawing/2014/main" id="{59557281-DF35-4D35-8329-FB7B0F98694A}"/>
              </a:ext>
            </a:extLst>
          </p:cNvPr>
          <p:cNvSpPr/>
          <p:nvPr/>
        </p:nvSpPr>
        <p:spPr>
          <a:xfrm>
            <a:off x="2898648" y="4727448"/>
            <a:ext cx="256032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02" name="Text 69">
            <a:extLst>
              <a:ext uri="{FF2B5EF4-FFF2-40B4-BE49-F238E27FC236}">
                <a16:creationId xmlns:a16="http://schemas.microsoft.com/office/drawing/2014/main" id="{761AAE82-B363-4CC0-9F1F-544578AA534E}"/>
              </a:ext>
            </a:extLst>
          </p:cNvPr>
          <p:cNvSpPr/>
          <p:nvPr/>
        </p:nvSpPr>
        <p:spPr>
          <a:xfrm>
            <a:off x="2770632" y="45262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更新</a:t>
            </a:r>
            <a:endParaRPr lang="en-US" sz="900" dirty="0"/>
          </a:p>
        </p:txBody>
      </p:sp>
      <p:sp>
        <p:nvSpPr>
          <p:cNvPr id="103" name="Shape 70">
            <a:extLst>
              <a:ext uri="{FF2B5EF4-FFF2-40B4-BE49-F238E27FC236}">
                <a16:creationId xmlns:a16="http://schemas.microsoft.com/office/drawing/2014/main" id="{07A923E7-B9EF-4D1C-A367-5B473425B973}"/>
              </a:ext>
            </a:extLst>
          </p:cNvPr>
          <p:cNvSpPr/>
          <p:nvPr/>
        </p:nvSpPr>
        <p:spPr>
          <a:xfrm>
            <a:off x="274320" y="4645152"/>
            <a:ext cx="2633472" cy="164592"/>
          </a:xfrm>
          <a:prstGeom prst="rect">
            <a:avLst/>
          </a:prstGeom>
          <a:solidFill>
            <a:srgbClr val="1A5E3A">
              <a:alpha val="88000"/>
            </a:srgbClr>
          </a:solidFill>
          <a:ln w="19050">
            <a:solidFill>
              <a:srgbClr val="1A5E3A"/>
            </a:solidFill>
            <a:prstDash val="sysDot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4" name="Text 71">
            <a:extLst>
              <a:ext uri="{FF2B5EF4-FFF2-40B4-BE49-F238E27FC236}">
                <a16:creationId xmlns:a16="http://schemas.microsoft.com/office/drawing/2014/main" id="{2CBA5B9A-70DB-4E2B-9BF0-88F4212C2E85}"/>
              </a:ext>
            </a:extLst>
          </p:cNvPr>
          <p:cNvSpPr/>
          <p:nvPr/>
        </p:nvSpPr>
        <p:spPr>
          <a:xfrm>
            <a:off x="274320" y="4645152"/>
            <a:ext cx="2633472" cy="1645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圖鑑解鎖 → LocalStorage 存檔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>
            <a:extLst>
              <a:ext uri="{FF2B5EF4-FFF2-40B4-BE49-F238E27FC236}">
                <a16:creationId xmlns:a16="http://schemas.microsoft.com/office/drawing/2014/main" id="{452C0FA0-D1AC-4995-931F-77D53E719052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1" name="Shape 1">
            <a:extLst>
              <a:ext uri="{FF2B5EF4-FFF2-40B4-BE49-F238E27FC236}">
                <a16:creationId xmlns:a16="http://schemas.microsoft.com/office/drawing/2014/main" id="{DEE4D7F1-8EB1-4C12-9AFD-1A4BEE6C90EC}"/>
              </a:ext>
            </a:extLst>
          </p:cNvPr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2" name="Text 2">
            <a:extLst>
              <a:ext uri="{FF2B5EF4-FFF2-40B4-BE49-F238E27FC236}">
                <a16:creationId xmlns:a16="http://schemas.microsoft.com/office/drawing/2014/main" id="{2B7AB3BA-B2AF-4C1B-8794-51EA110836EB}"/>
              </a:ext>
            </a:extLst>
          </p:cNvPr>
          <p:cNvSpPr/>
          <p:nvPr/>
        </p:nvSpPr>
        <p:spPr>
          <a:xfrm>
            <a:off x="164592" y="54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智能合約流程圖 — mintPet() 鑄造流程</a:t>
            </a:r>
            <a:endParaRPr lang="en-US" sz="2000" dirty="0"/>
          </a:p>
        </p:txBody>
      </p:sp>
      <p:sp>
        <p:nvSpPr>
          <p:cNvPr id="163" name="Text 3">
            <a:extLst>
              <a:ext uri="{FF2B5EF4-FFF2-40B4-BE49-F238E27FC236}">
                <a16:creationId xmlns:a16="http://schemas.microsoft.com/office/drawing/2014/main" id="{1CB6BE81-436E-4E8A-9DF4-63D9BD48F8F6}"/>
              </a:ext>
            </a:extLst>
          </p:cNvPr>
          <p:cNvSpPr/>
          <p:nvPr/>
        </p:nvSpPr>
        <p:spPr>
          <a:xfrm>
            <a:off x="8321040" y="91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A9AB8"/>
                </a:solidFill>
              </a:rPr>
              <a:t>03</a:t>
            </a:r>
            <a:endParaRPr lang="en-US" sz="1600" dirty="0"/>
          </a:p>
        </p:txBody>
      </p:sp>
      <p:sp>
        <p:nvSpPr>
          <p:cNvPr id="164" name="Text 4">
            <a:extLst>
              <a:ext uri="{FF2B5EF4-FFF2-40B4-BE49-F238E27FC236}">
                <a16:creationId xmlns:a16="http://schemas.microsoft.com/office/drawing/2014/main" id="{D5A7EC34-8969-4706-85A6-211B70A807AF}"/>
              </a:ext>
            </a:extLst>
          </p:cNvPr>
          <p:cNvSpPr/>
          <p:nvPr/>
        </p:nvSpPr>
        <p:spPr>
          <a:xfrm>
            <a:off x="27432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合約依序執行：手續費驗證 → Token ID 分配 → ERC-721 鑄造 → 資料寫入 → 事件發送，驗證失敗立即 revert 回滾。</a:t>
            </a:r>
            <a:endParaRPr lang="en-US" sz="1100" dirty="0"/>
          </a:p>
        </p:txBody>
      </p:sp>
      <p:sp>
        <p:nvSpPr>
          <p:cNvPr id="165" name="Shape 5">
            <a:extLst>
              <a:ext uri="{FF2B5EF4-FFF2-40B4-BE49-F238E27FC236}">
                <a16:creationId xmlns:a16="http://schemas.microsoft.com/office/drawing/2014/main" id="{30A182D3-D793-4705-B84B-F256603E6840}"/>
              </a:ext>
            </a:extLst>
          </p:cNvPr>
          <p:cNvSpPr/>
          <p:nvPr/>
        </p:nvSpPr>
        <p:spPr>
          <a:xfrm>
            <a:off x="256032" y="4818888"/>
            <a:ext cx="182880" cy="118872"/>
          </a:xfrm>
          <a:prstGeom prst="rect">
            <a:avLst/>
          </a:prstGeom>
          <a:solidFill>
            <a:srgbClr val="17A589">
              <a:alpha val="85000"/>
            </a:srgbClr>
          </a:solidFill>
          <a:ln w="10160">
            <a:solidFill>
              <a:srgbClr val="17A589"/>
            </a:solidFill>
            <a:prstDash val="solid"/>
          </a:ln>
        </p:spPr>
      </p:sp>
      <p:sp>
        <p:nvSpPr>
          <p:cNvPr id="166" name="Text 6">
            <a:extLst>
              <a:ext uri="{FF2B5EF4-FFF2-40B4-BE49-F238E27FC236}">
                <a16:creationId xmlns:a16="http://schemas.microsoft.com/office/drawing/2014/main" id="{B7F31EB5-2CBF-46A6-8CED-2625BE2B1444}"/>
              </a:ext>
            </a:extLst>
          </p:cNvPr>
          <p:cNvSpPr/>
          <p:nvPr/>
        </p:nvSpPr>
        <p:spPr>
          <a:xfrm>
            <a:off x="475488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開始/結束</a:t>
            </a:r>
            <a:endParaRPr lang="en-US" sz="900" dirty="0"/>
          </a:p>
        </p:txBody>
      </p:sp>
      <p:sp>
        <p:nvSpPr>
          <p:cNvPr id="167" name="Shape 7">
            <a:extLst>
              <a:ext uri="{FF2B5EF4-FFF2-40B4-BE49-F238E27FC236}">
                <a16:creationId xmlns:a16="http://schemas.microsoft.com/office/drawing/2014/main" id="{01AFDDA3-3E0E-4C68-B74E-FF14119B8352}"/>
              </a:ext>
            </a:extLst>
          </p:cNvPr>
          <p:cNvSpPr/>
          <p:nvPr/>
        </p:nvSpPr>
        <p:spPr>
          <a:xfrm>
            <a:off x="2011680" y="4818888"/>
            <a:ext cx="182880" cy="118872"/>
          </a:xfrm>
          <a:prstGeom prst="rect">
            <a:avLst/>
          </a:prstGeom>
          <a:solidFill>
            <a:srgbClr val="2E86C1">
              <a:alpha val="85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168" name="Text 8">
            <a:extLst>
              <a:ext uri="{FF2B5EF4-FFF2-40B4-BE49-F238E27FC236}">
                <a16:creationId xmlns:a16="http://schemas.microsoft.com/office/drawing/2014/main" id="{9D579A61-7326-42DF-BC0B-66A6E7F64BD8}"/>
              </a:ext>
            </a:extLst>
          </p:cNvPr>
          <p:cNvSpPr/>
          <p:nvPr/>
        </p:nvSpPr>
        <p:spPr>
          <a:xfrm>
            <a:off x="2231136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處理程序</a:t>
            </a:r>
            <a:endParaRPr lang="en-US" sz="900" dirty="0"/>
          </a:p>
        </p:txBody>
      </p:sp>
      <p:sp>
        <p:nvSpPr>
          <p:cNvPr id="169" name="Shape 9">
            <a:extLst>
              <a:ext uri="{FF2B5EF4-FFF2-40B4-BE49-F238E27FC236}">
                <a16:creationId xmlns:a16="http://schemas.microsoft.com/office/drawing/2014/main" id="{B41E6FA0-157A-4795-BE4A-990754CDC576}"/>
              </a:ext>
            </a:extLst>
          </p:cNvPr>
          <p:cNvSpPr/>
          <p:nvPr/>
        </p:nvSpPr>
        <p:spPr>
          <a:xfrm>
            <a:off x="3767328" y="4818888"/>
            <a:ext cx="182880" cy="118872"/>
          </a:xfrm>
          <a:prstGeom prst="rect">
            <a:avLst/>
          </a:prstGeom>
          <a:solidFill>
            <a:srgbClr val="F9A825">
              <a:alpha val="85000"/>
            </a:srgbClr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170" name="Text 10">
            <a:extLst>
              <a:ext uri="{FF2B5EF4-FFF2-40B4-BE49-F238E27FC236}">
                <a16:creationId xmlns:a16="http://schemas.microsoft.com/office/drawing/2014/main" id="{ADF2D6E6-0F01-4D7F-ACD1-E169D84F5E51}"/>
              </a:ext>
            </a:extLst>
          </p:cNvPr>
          <p:cNvSpPr/>
          <p:nvPr/>
        </p:nvSpPr>
        <p:spPr>
          <a:xfrm>
            <a:off x="3986784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判斷菱形</a:t>
            </a:r>
            <a:endParaRPr lang="en-US" sz="900" dirty="0"/>
          </a:p>
        </p:txBody>
      </p:sp>
      <p:sp>
        <p:nvSpPr>
          <p:cNvPr id="171" name="Shape 11">
            <a:extLst>
              <a:ext uri="{FF2B5EF4-FFF2-40B4-BE49-F238E27FC236}">
                <a16:creationId xmlns:a16="http://schemas.microsoft.com/office/drawing/2014/main" id="{4D21F0C7-FAB1-4887-9806-E6E2DE38F97E}"/>
              </a:ext>
            </a:extLst>
          </p:cNvPr>
          <p:cNvSpPr/>
          <p:nvPr/>
        </p:nvSpPr>
        <p:spPr>
          <a:xfrm>
            <a:off x="5522976" y="4818888"/>
            <a:ext cx="182880" cy="118872"/>
          </a:xfrm>
          <a:prstGeom prst="rect">
            <a:avLst/>
          </a:prstGeom>
          <a:solidFill>
            <a:srgbClr val="8E44AD">
              <a:alpha val="85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172" name="Text 12">
            <a:extLst>
              <a:ext uri="{FF2B5EF4-FFF2-40B4-BE49-F238E27FC236}">
                <a16:creationId xmlns:a16="http://schemas.microsoft.com/office/drawing/2014/main" id="{46466D04-CB99-4993-9640-E41B2BCC4ED3}"/>
              </a:ext>
            </a:extLst>
          </p:cNvPr>
          <p:cNvSpPr/>
          <p:nvPr/>
        </p:nvSpPr>
        <p:spPr>
          <a:xfrm>
            <a:off x="5742432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資料/事件</a:t>
            </a:r>
            <a:endParaRPr lang="en-US" sz="900" dirty="0"/>
          </a:p>
        </p:txBody>
      </p:sp>
      <p:sp>
        <p:nvSpPr>
          <p:cNvPr id="173" name="Shape 13">
            <a:extLst>
              <a:ext uri="{FF2B5EF4-FFF2-40B4-BE49-F238E27FC236}">
                <a16:creationId xmlns:a16="http://schemas.microsoft.com/office/drawing/2014/main" id="{5BA1A1E4-7B1C-4303-9F30-6245CE0065FF}"/>
              </a:ext>
            </a:extLst>
          </p:cNvPr>
          <p:cNvSpPr/>
          <p:nvPr/>
        </p:nvSpPr>
        <p:spPr>
          <a:xfrm>
            <a:off x="7278624" y="4818888"/>
            <a:ext cx="182880" cy="118872"/>
          </a:xfrm>
          <a:prstGeom prst="rect">
            <a:avLst/>
          </a:prstGeom>
          <a:solidFill>
            <a:srgbClr val="E74C3C">
              <a:alpha val="85000"/>
            </a:srgbClr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174" name="Text 14">
            <a:extLst>
              <a:ext uri="{FF2B5EF4-FFF2-40B4-BE49-F238E27FC236}">
                <a16:creationId xmlns:a16="http://schemas.microsoft.com/office/drawing/2014/main" id="{DD4E7DC5-F1A9-472B-BA7C-76B9FA8C8EF8}"/>
              </a:ext>
            </a:extLst>
          </p:cNvPr>
          <p:cNvSpPr/>
          <p:nvPr/>
        </p:nvSpPr>
        <p:spPr>
          <a:xfrm>
            <a:off x="7498080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revert</a:t>
            </a:r>
            <a:endParaRPr lang="en-US" sz="900" dirty="0"/>
          </a:p>
        </p:txBody>
      </p:sp>
      <p:sp>
        <p:nvSpPr>
          <p:cNvPr id="175" name="Shape 15">
            <a:extLst>
              <a:ext uri="{FF2B5EF4-FFF2-40B4-BE49-F238E27FC236}">
                <a16:creationId xmlns:a16="http://schemas.microsoft.com/office/drawing/2014/main" id="{EB95C44E-9F3A-4786-93F7-FBF12583951E}"/>
              </a:ext>
            </a:extLst>
          </p:cNvPr>
          <p:cNvSpPr/>
          <p:nvPr/>
        </p:nvSpPr>
        <p:spPr>
          <a:xfrm>
            <a:off x="6400800" y="987552"/>
            <a:ext cx="2505456" cy="804672"/>
          </a:xfrm>
          <a:prstGeom prst="rect">
            <a:avLst/>
          </a:prstGeom>
          <a:solidFill>
            <a:srgbClr val="112240"/>
          </a:solidFill>
          <a:ln w="15240">
            <a:solidFill>
              <a:srgbClr val="F5C518"/>
            </a:solidFill>
            <a:prstDash val="solid"/>
          </a:ln>
        </p:spPr>
      </p:sp>
      <p:sp>
        <p:nvSpPr>
          <p:cNvPr id="176" name="Shape 16">
            <a:extLst>
              <a:ext uri="{FF2B5EF4-FFF2-40B4-BE49-F238E27FC236}">
                <a16:creationId xmlns:a16="http://schemas.microsoft.com/office/drawing/2014/main" id="{29118781-FC1C-4477-8DBB-672B8F545BC7}"/>
              </a:ext>
            </a:extLst>
          </p:cNvPr>
          <p:cNvSpPr/>
          <p:nvPr/>
        </p:nvSpPr>
        <p:spPr>
          <a:xfrm>
            <a:off x="6400800" y="987552"/>
            <a:ext cx="45720" cy="80467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7" name="Text 17">
            <a:extLst>
              <a:ext uri="{FF2B5EF4-FFF2-40B4-BE49-F238E27FC236}">
                <a16:creationId xmlns:a16="http://schemas.microsoft.com/office/drawing/2014/main" id="{A264D8C1-8A77-44F9-9060-4A6EACF6312B}"/>
              </a:ext>
            </a:extLst>
          </p:cNvPr>
          <p:cNvSpPr/>
          <p:nvPr/>
        </p:nvSpPr>
        <p:spPr>
          <a:xfrm>
            <a:off x="6473952" y="10241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① MINT_FEE</a:t>
            </a:r>
            <a:endParaRPr lang="en-US" sz="1200" dirty="0"/>
          </a:p>
        </p:txBody>
      </p:sp>
      <p:sp>
        <p:nvSpPr>
          <p:cNvPr id="178" name="Text 18">
            <a:extLst>
              <a:ext uri="{FF2B5EF4-FFF2-40B4-BE49-F238E27FC236}">
                <a16:creationId xmlns:a16="http://schemas.microsoft.com/office/drawing/2014/main" id="{34979173-77DA-4A93-A3E7-6A10536F69A6}"/>
              </a:ext>
            </a:extLst>
          </p:cNvPr>
          <p:cNvSpPr/>
          <p:nvPr/>
        </p:nvSpPr>
        <p:spPr>
          <a:xfrm>
            <a:off x="6473952" y="13167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0.001 ether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常數，防止惡意呼叫</a:t>
            </a:r>
            <a:endParaRPr lang="en-US" sz="1000" dirty="0"/>
          </a:p>
        </p:txBody>
      </p:sp>
      <p:sp>
        <p:nvSpPr>
          <p:cNvPr id="179" name="Shape 19">
            <a:extLst>
              <a:ext uri="{FF2B5EF4-FFF2-40B4-BE49-F238E27FC236}">
                <a16:creationId xmlns:a16="http://schemas.microsoft.com/office/drawing/2014/main" id="{F8179543-FAEE-4D48-B2C6-584017D59DCD}"/>
              </a:ext>
            </a:extLst>
          </p:cNvPr>
          <p:cNvSpPr/>
          <p:nvPr/>
        </p:nvSpPr>
        <p:spPr>
          <a:xfrm>
            <a:off x="6400800" y="1901952"/>
            <a:ext cx="2505456" cy="804672"/>
          </a:xfrm>
          <a:prstGeom prst="rect">
            <a:avLst/>
          </a:prstGeom>
          <a:solidFill>
            <a:srgbClr val="112240"/>
          </a:solidFill>
          <a:ln w="15240">
            <a:solidFill>
              <a:srgbClr val="2E86C1"/>
            </a:solidFill>
            <a:prstDash val="solid"/>
          </a:ln>
        </p:spPr>
      </p:sp>
      <p:sp>
        <p:nvSpPr>
          <p:cNvPr id="180" name="Shape 20">
            <a:extLst>
              <a:ext uri="{FF2B5EF4-FFF2-40B4-BE49-F238E27FC236}">
                <a16:creationId xmlns:a16="http://schemas.microsoft.com/office/drawing/2014/main" id="{875E18AC-DAD0-4E4C-B079-1258138B6267}"/>
              </a:ext>
            </a:extLst>
          </p:cNvPr>
          <p:cNvSpPr/>
          <p:nvPr/>
        </p:nvSpPr>
        <p:spPr>
          <a:xfrm>
            <a:off x="6400800" y="1901952"/>
            <a:ext cx="45720" cy="80467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1" name="Text 21">
            <a:extLst>
              <a:ext uri="{FF2B5EF4-FFF2-40B4-BE49-F238E27FC236}">
                <a16:creationId xmlns:a16="http://schemas.microsoft.com/office/drawing/2014/main" id="{0BA41684-B217-4C36-B4D6-3E4323467F9C}"/>
              </a:ext>
            </a:extLst>
          </p:cNvPr>
          <p:cNvSpPr/>
          <p:nvPr/>
        </p:nvSpPr>
        <p:spPr>
          <a:xfrm>
            <a:off x="6473952" y="19385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</a:rPr>
              <a:t>② _safeMint()</a:t>
            </a:r>
            <a:endParaRPr lang="en-US" sz="1200" dirty="0"/>
          </a:p>
        </p:txBody>
      </p:sp>
      <p:sp>
        <p:nvSpPr>
          <p:cNvPr id="182" name="Text 22">
            <a:extLst>
              <a:ext uri="{FF2B5EF4-FFF2-40B4-BE49-F238E27FC236}">
                <a16:creationId xmlns:a16="http://schemas.microsoft.com/office/drawing/2014/main" id="{57020A59-3685-43A5-8A59-FBFA1902D973}"/>
              </a:ext>
            </a:extLst>
          </p:cNvPr>
          <p:cNvSpPr/>
          <p:nvPr/>
        </p:nvSpPr>
        <p:spPr>
          <a:xfrm>
            <a:off x="6473952" y="22311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繼承 OpenZeppelin ERC-721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自動驗證接收方地址</a:t>
            </a:r>
            <a:endParaRPr lang="en-US" sz="1000" dirty="0"/>
          </a:p>
        </p:txBody>
      </p:sp>
      <p:sp>
        <p:nvSpPr>
          <p:cNvPr id="183" name="Shape 23">
            <a:extLst>
              <a:ext uri="{FF2B5EF4-FFF2-40B4-BE49-F238E27FC236}">
                <a16:creationId xmlns:a16="http://schemas.microsoft.com/office/drawing/2014/main" id="{049951DB-B043-4EBB-9B47-A5D76F019716}"/>
              </a:ext>
            </a:extLst>
          </p:cNvPr>
          <p:cNvSpPr/>
          <p:nvPr/>
        </p:nvSpPr>
        <p:spPr>
          <a:xfrm>
            <a:off x="6400800" y="2816352"/>
            <a:ext cx="2505456" cy="804672"/>
          </a:xfrm>
          <a:prstGeom prst="rect">
            <a:avLst/>
          </a:prstGeom>
          <a:solidFill>
            <a:srgbClr val="112240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84" name="Shape 24">
            <a:extLst>
              <a:ext uri="{FF2B5EF4-FFF2-40B4-BE49-F238E27FC236}">
                <a16:creationId xmlns:a16="http://schemas.microsoft.com/office/drawing/2014/main" id="{B4DBCB97-5E6E-489B-A834-782CA9AA6C30}"/>
              </a:ext>
            </a:extLst>
          </p:cNvPr>
          <p:cNvSpPr/>
          <p:nvPr/>
        </p:nvSpPr>
        <p:spPr>
          <a:xfrm>
            <a:off x="6400800" y="2816352"/>
            <a:ext cx="45720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5" name="Text 25">
            <a:extLst>
              <a:ext uri="{FF2B5EF4-FFF2-40B4-BE49-F238E27FC236}">
                <a16:creationId xmlns:a16="http://schemas.microsoft.com/office/drawing/2014/main" id="{657023BD-AEFE-4F2C-98CE-42CBFF9E6CF4}"/>
              </a:ext>
            </a:extLst>
          </p:cNvPr>
          <p:cNvSpPr/>
          <p:nvPr/>
        </p:nvSpPr>
        <p:spPr>
          <a:xfrm>
            <a:off x="6473952" y="28529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③ Pet struct</a:t>
            </a:r>
            <a:endParaRPr lang="en-US" sz="1200" dirty="0"/>
          </a:p>
        </p:txBody>
      </p:sp>
      <p:sp>
        <p:nvSpPr>
          <p:cNvPr id="186" name="Text 26">
            <a:extLst>
              <a:ext uri="{FF2B5EF4-FFF2-40B4-BE49-F238E27FC236}">
                <a16:creationId xmlns:a16="http://schemas.microsoft.com/office/drawing/2014/main" id="{EB78572E-5C67-4129-A5A2-341A7A7F41D8}"/>
              </a:ext>
            </a:extLst>
          </p:cNvPr>
          <p:cNvSpPr/>
          <p:nvPr/>
        </p:nvSpPr>
        <p:spPr>
          <a:xfrm>
            <a:off x="6473952" y="31455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symbol / stage:0 / rarity:0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bornAt: block.timestamp</a:t>
            </a:r>
            <a:endParaRPr lang="en-US" sz="1000" dirty="0"/>
          </a:p>
        </p:txBody>
      </p:sp>
      <p:sp>
        <p:nvSpPr>
          <p:cNvPr id="187" name="Shape 27">
            <a:extLst>
              <a:ext uri="{FF2B5EF4-FFF2-40B4-BE49-F238E27FC236}">
                <a16:creationId xmlns:a16="http://schemas.microsoft.com/office/drawing/2014/main" id="{D55F535A-DABD-49CF-9991-38AA20B1246C}"/>
              </a:ext>
            </a:extLst>
          </p:cNvPr>
          <p:cNvSpPr/>
          <p:nvPr/>
        </p:nvSpPr>
        <p:spPr>
          <a:xfrm>
            <a:off x="6400800" y="3730752"/>
            <a:ext cx="2505456" cy="804672"/>
          </a:xfrm>
          <a:prstGeom prst="rect">
            <a:avLst/>
          </a:prstGeom>
          <a:solidFill>
            <a:srgbClr val="112240"/>
          </a:solidFill>
          <a:ln w="15240">
            <a:solidFill>
              <a:srgbClr val="8E44AD"/>
            </a:solidFill>
            <a:prstDash val="solid"/>
          </a:ln>
        </p:spPr>
      </p:sp>
      <p:sp>
        <p:nvSpPr>
          <p:cNvPr id="188" name="Shape 28">
            <a:extLst>
              <a:ext uri="{FF2B5EF4-FFF2-40B4-BE49-F238E27FC236}">
                <a16:creationId xmlns:a16="http://schemas.microsoft.com/office/drawing/2014/main" id="{FA51E8EF-B4E3-4649-9ACB-C6B5E9B81E4C}"/>
              </a:ext>
            </a:extLst>
          </p:cNvPr>
          <p:cNvSpPr/>
          <p:nvPr/>
        </p:nvSpPr>
        <p:spPr>
          <a:xfrm>
            <a:off x="6400800" y="3730752"/>
            <a:ext cx="45720" cy="80467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9" name="Text 29">
            <a:extLst>
              <a:ext uri="{FF2B5EF4-FFF2-40B4-BE49-F238E27FC236}">
                <a16:creationId xmlns:a16="http://schemas.microsoft.com/office/drawing/2014/main" id="{A5E1C16E-78A2-46B7-BB88-097A44A5CA6B}"/>
              </a:ext>
            </a:extLst>
          </p:cNvPr>
          <p:cNvSpPr/>
          <p:nvPr/>
        </p:nvSpPr>
        <p:spPr>
          <a:xfrm>
            <a:off x="6473952" y="37673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</a:rPr>
              <a:t>④ PetMinted</a:t>
            </a:r>
            <a:endParaRPr lang="en-US" sz="1200" dirty="0"/>
          </a:p>
        </p:txBody>
      </p:sp>
      <p:sp>
        <p:nvSpPr>
          <p:cNvPr id="190" name="Text 30">
            <a:extLst>
              <a:ext uri="{FF2B5EF4-FFF2-40B4-BE49-F238E27FC236}">
                <a16:creationId xmlns:a16="http://schemas.microsoft.com/office/drawing/2014/main" id="{24E0A35B-E146-44CD-919F-A6653680ACC8}"/>
              </a:ext>
            </a:extLst>
          </p:cNvPr>
          <p:cNvSpPr/>
          <p:nvPr/>
        </p:nvSpPr>
        <p:spPr>
          <a:xfrm>
            <a:off x="6473952" y="405993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事件寫入交易 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前端監聽後更新寵物狀態</a:t>
            </a:r>
            <a:endParaRPr lang="en-US" sz="1000" dirty="0"/>
          </a:p>
        </p:txBody>
      </p:sp>
      <p:sp>
        <p:nvSpPr>
          <p:cNvPr id="191" name="Shape 31">
            <a:extLst>
              <a:ext uri="{FF2B5EF4-FFF2-40B4-BE49-F238E27FC236}">
                <a16:creationId xmlns:a16="http://schemas.microsoft.com/office/drawing/2014/main" id="{6BA2AB69-FE73-4081-A5AD-25D6BE927703}"/>
              </a:ext>
            </a:extLst>
          </p:cNvPr>
          <p:cNvSpPr/>
          <p:nvPr/>
        </p:nvSpPr>
        <p:spPr>
          <a:xfrm>
            <a:off x="2926080" y="987552"/>
            <a:ext cx="3108960" cy="384048"/>
          </a:xfrm>
          <a:prstGeom prst="roundRect">
            <a:avLst>
              <a:gd name="adj" fmla="val 48000"/>
            </a:avLst>
          </a:prstGeom>
          <a:solidFill>
            <a:srgbClr val="0E6655">
              <a:alpha val="92000"/>
            </a:srgbClr>
          </a:solidFill>
          <a:ln w="25400">
            <a:solidFill>
              <a:srgbClr val="17A589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2" name="Text 32">
            <a:extLst>
              <a:ext uri="{FF2B5EF4-FFF2-40B4-BE49-F238E27FC236}">
                <a16:creationId xmlns:a16="http://schemas.microsoft.com/office/drawing/2014/main" id="{B8973B26-DD1E-46A8-BE1A-D61AF46C362C}"/>
              </a:ext>
            </a:extLst>
          </p:cNvPr>
          <p:cNvSpPr/>
          <p:nvPr/>
        </p:nvSpPr>
        <p:spPr>
          <a:xfrm>
            <a:off x="292608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開始：呼叫 mintPet(symbol)</a:t>
            </a:r>
            <a:endParaRPr lang="en-US" sz="1100" dirty="0"/>
          </a:p>
        </p:txBody>
      </p:sp>
      <p:sp>
        <p:nvSpPr>
          <p:cNvPr id="193" name="Shape 33">
            <a:extLst>
              <a:ext uri="{FF2B5EF4-FFF2-40B4-BE49-F238E27FC236}">
                <a16:creationId xmlns:a16="http://schemas.microsoft.com/office/drawing/2014/main" id="{BC0EC039-3F83-4C60-A67F-38BAF172ED44}"/>
              </a:ext>
            </a:extLst>
          </p:cNvPr>
          <p:cNvSpPr/>
          <p:nvPr/>
        </p:nvSpPr>
        <p:spPr>
          <a:xfrm>
            <a:off x="4480560" y="1371600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94" name="Shape 34">
            <a:extLst>
              <a:ext uri="{FF2B5EF4-FFF2-40B4-BE49-F238E27FC236}">
                <a16:creationId xmlns:a16="http://schemas.microsoft.com/office/drawing/2014/main" id="{77205899-00EF-48BC-BCA3-413E10604D9B}"/>
              </a:ext>
            </a:extLst>
          </p:cNvPr>
          <p:cNvSpPr/>
          <p:nvPr/>
        </p:nvSpPr>
        <p:spPr>
          <a:xfrm>
            <a:off x="2926080" y="1554480"/>
            <a:ext cx="3108960" cy="438912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5" name="Text 35">
            <a:extLst>
              <a:ext uri="{FF2B5EF4-FFF2-40B4-BE49-F238E27FC236}">
                <a16:creationId xmlns:a16="http://schemas.microsoft.com/office/drawing/2014/main" id="{0F5DDD58-82D7-492D-A5C6-3B0C1A5EAED8}"/>
              </a:ext>
            </a:extLst>
          </p:cNvPr>
          <p:cNvSpPr/>
          <p:nvPr/>
        </p:nvSpPr>
        <p:spPr>
          <a:xfrm>
            <a:off x="2926080" y="1554480"/>
            <a:ext cx="310896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接收參數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symbol（幣種代號，如 BTC）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msg.value（使用者傳入 ETH）</a:t>
            </a:r>
            <a:endParaRPr lang="en-US" sz="1000" dirty="0"/>
          </a:p>
        </p:txBody>
      </p:sp>
      <p:sp>
        <p:nvSpPr>
          <p:cNvPr id="196" name="Shape 36">
            <a:extLst>
              <a:ext uri="{FF2B5EF4-FFF2-40B4-BE49-F238E27FC236}">
                <a16:creationId xmlns:a16="http://schemas.microsoft.com/office/drawing/2014/main" id="{8919D035-5AAD-40B2-AA3A-7AA95416B46B}"/>
              </a:ext>
            </a:extLst>
          </p:cNvPr>
          <p:cNvSpPr/>
          <p:nvPr/>
        </p:nvSpPr>
        <p:spPr>
          <a:xfrm>
            <a:off x="4480560" y="1993392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97" name="Shape 37">
            <a:extLst>
              <a:ext uri="{FF2B5EF4-FFF2-40B4-BE49-F238E27FC236}">
                <a16:creationId xmlns:a16="http://schemas.microsoft.com/office/drawing/2014/main" id="{7964E15D-EDB1-4E69-8541-A4C708D4C2E1}"/>
              </a:ext>
            </a:extLst>
          </p:cNvPr>
          <p:cNvSpPr/>
          <p:nvPr/>
        </p:nvSpPr>
        <p:spPr>
          <a:xfrm rot="2700000">
            <a:off x="4243548" y="2268444"/>
            <a:ext cx="474025" cy="474025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8" name="Text 38">
            <a:extLst>
              <a:ext uri="{FF2B5EF4-FFF2-40B4-BE49-F238E27FC236}">
                <a16:creationId xmlns:a16="http://schemas.microsoft.com/office/drawing/2014/main" id="{648438E4-AD1E-4456-B5D1-33ED67C1A8C7}"/>
              </a:ext>
            </a:extLst>
          </p:cNvPr>
          <p:cNvSpPr/>
          <p:nvPr/>
        </p:nvSpPr>
        <p:spPr>
          <a:xfrm>
            <a:off x="2926080" y="2242109"/>
            <a:ext cx="3108960" cy="52669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msg.value ≥ MINT_FEE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(0.001 ETH) ?</a:t>
            </a:r>
            <a:endParaRPr lang="en-US" sz="1000" dirty="0"/>
          </a:p>
        </p:txBody>
      </p:sp>
      <p:sp>
        <p:nvSpPr>
          <p:cNvPr id="199" name="Shape 39">
            <a:extLst>
              <a:ext uri="{FF2B5EF4-FFF2-40B4-BE49-F238E27FC236}">
                <a16:creationId xmlns:a16="http://schemas.microsoft.com/office/drawing/2014/main" id="{59892A26-43B5-4B8E-85E9-1CE870F8F8F4}"/>
              </a:ext>
            </a:extLst>
          </p:cNvPr>
          <p:cNvSpPr/>
          <p:nvPr/>
        </p:nvSpPr>
        <p:spPr>
          <a:xfrm>
            <a:off x="6035040" y="2505456"/>
            <a:ext cx="310896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00" name="Text 40">
            <a:extLst>
              <a:ext uri="{FF2B5EF4-FFF2-40B4-BE49-F238E27FC236}">
                <a16:creationId xmlns:a16="http://schemas.microsoft.com/office/drawing/2014/main" id="{91CDC5C5-B755-49D4-B227-322A082485C6}"/>
              </a:ext>
            </a:extLst>
          </p:cNvPr>
          <p:cNvSpPr/>
          <p:nvPr/>
        </p:nvSpPr>
        <p:spPr>
          <a:xfrm>
            <a:off x="5934456" y="23042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否</a:t>
            </a:r>
            <a:endParaRPr lang="en-US" sz="900" dirty="0"/>
          </a:p>
        </p:txBody>
      </p:sp>
      <p:sp>
        <p:nvSpPr>
          <p:cNvPr id="201" name="Shape 41">
            <a:extLst>
              <a:ext uri="{FF2B5EF4-FFF2-40B4-BE49-F238E27FC236}">
                <a16:creationId xmlns:a16="http://schemas.microsoft.com/office/drawing/2014/main" id="{E3A13D3C-0E90-4114-A71D-7BD56DBEA8AC}"/>
              </a:ext>
            </a:extLst>
          </p:cNvPr>
          <p:cNvSpPr/>
          <p:nvPr/>
        </p:nvSpPr>
        <p:spPr>
          <a:xfrm>
            <a:off x="6345936" y="2304288"/>
            <a:ext cx="1682496" cy="402336"/>
          </a:xfrm>
          <a:prstGeom prst="roundRect">
            <a:avLst>
              <a:gd name="adj" fmla="val 22727"/>
            </a:avLst>
          </a:prstGeom>
          <a:solidFill>
            <a:srgbClr val="7B241C">
              <a:alpha val="92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2" name="Text 42">
            <a:extLst>
              <a:ext uri="{FF2B5EF4-FFF2-40B4-BE49-F238E27FC236}">
                <a16:creationId xmlns:a16="http://schemas.microsoft.com/office/drawing/2014/main" id="{B3EAE2CC-5595-4F12-BD8F-2FCC5A9822FF}"/>
              </a:ext>
            </a:extLst>
          </p:cNvPr>
          <p:cNvSpPr/>
          <p:nvPr/>
        </p:nvSpPr>
        <p:spPr>
          <a:xfrm>
            <a:off x="6345936" y="2304288"/>
            <a:ext cx="168249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「insufficient fee」</a:t>
            </a:r>
            <a:endParaRPr lang="en-US" sz="1000" dirty="0"/>
          </a:p>
        </p:txBody>
      </p:sp>
      <p:sp>
        <p:nvSpPr>
          <p:cNvPr id="203" name="Shape 43">
            <a:extLst>
              <a:ext uri="{FF2B5EF4-FFF2-40B4-BE49-F238E27FC236}">
                <a16:creationId xmlns:a16="http://schemas.microsoft.com/office/drawing/2014/main" id="{E6FA351A-564E-4872-B99F-10F6205D60C0}"/>
              </a:ext>
            </a:extLst>
          </p:cNvPr>
          <p:cNvSpPr/>
          <p:nvPr/>
        </p:nvSpPr>
        <p:spPr>
          <a:xfrm>
            <a:off x="4480560" y="2834640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04" name="Text 44">
            <a:extLst>
              <a:ext uri="{FF2B5EF4-FFF2-40B4-BE49-F238E27FC236}">
                <a16:creationId xmlns:a16="http://schemas.microsoft.com/office/drawing/2014/main" id="{F6AC50DE-BEE5-4E1D-9D78-E4450B6369DA}"/>
              </a:ext>
            </a:extLst>
          </p:cNvPr>
          <p:cNvSpPr/>
          <p:nvPr/>
        </p:nvSpPr>
        <p:spPr>
          <a:xfrm>
            <a:off x="4023360" y="28254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是</a:t>
            </a:r>
            <a:endParaRPr lang="en-US" sz="900" dirty="0"/>
          </a:p>
        </p:txBody>
      </p:sp>
      <p:sp>
        <p:nvSpPr>
          <p:cNvPr id="205" name="Shape 45">
            <a:extLst>
              <a:ext uri="{FF2B5EF4-FFF2-40B4-BE49-F238E27FC236}">
                <a16:creationId xmlns:a16="http://schemas.microsoft.com/office/drawing/2014/main" id="{036601F2-B82D-4EC1-8113-8E32CAF9D797}"/>
              </a:ext>
            </a:extLst>
          </p:cNvPr>
          <p:cNvSpPr/>
          <p:nvPr/>
        </p:nvSpPr>
        <p:spPr>
          <a:xfrm>
            <a:off x="2926080" y="3017520"/>
            <a:ext cx="3108960" cy="384048"/>
          </a:xfrm>
          <a:prstGeom prst="rect">
            <a:avLst/>
          </a:prstGeom>
          <a:solidFill>
            <a:srgbClr val="1A5276">
              <a:alpha val="88000"/>
            </a:srgbClr>
          </a:solidFill>
          <a:ln w="1905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6" name="Text 46">
            <a:extLst>
              <a:ext uri="{FF2B5EF4-FFF2-40B4-BE49-F238E27FC236}">
                <a16:creationId xmlns:a16="http://schemas.microsoft.com/office/drawing/2014/main" id="{5A9FBE3B-7781-484B-9E41-9A2DC8CF7718}"/>
              </a:ext>
            </a:extLst>
          </p:cNvPr>
          <p:cNvSpPr/>
          <p:nvPr/>
        </p:nvSpPr>
        <p:spPr>
          <a:xfrm>
            <a:off x="292608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tokenId = _nextTokenId++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分配唯一 Token ID（不重複）</a:t>
            </a:r>
            <a:endParaRPr lang="en-US" sz="1000" dirty="0"/>
          </a:p>
        </p:txBody>
      </p:sp>
      <p:sp>
        <p:nvSpPr>
          <p:cNvPr id="207" name="Shape 47">
            <a:extLst>
              <a:ext uri="{FF2B5EF4-FFF2-40B4-BE49-F238E27FC236}">
                <a16:creationId xmlns:a16="http://schemas.microsoft.com/office/drawing/2014/main" id="{7FE97B5B-A542-4842-8E4C-C8D044AB27B9}"/>
              </a:ext>
            </a:extLst>
          </p:cNvPr>
          <p:cNvSpPr/>
          <p:nvPr/>
        </p:nvSpPr>
        <p:spPr>
          <a:xfrm>
            <a:off x="4480560" y="3401568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08" name="Shape 48">
            <a:extLst>
              <a:ext uri="{FF2B5EF4-FFF2-40B4-BE49-F238E27FC236}">
                <a16:creationId xmlns:a16="http://schemas.microsoft.com/office/drawing/2014/main" id="{DA4BDEE1-6B6E-4C75-9F2F-F9458398FCF1}"/>
              </a:ext>
            </a:extLst>
          </p:cNvPr>
          <p:cNvSpPr/>
          <p:nvPr/>
        </p:nvSpPr>
        <p:spPr>
          <a:xfrm>
            <a:off x="2926080" y="3584448"/>
            <a:ext cx="3108960" cy="384048"/>
          </a:xfrm>
          <a:prstGeom prst="rect">
            <a:avLst/>
          </a:prstGeom>
          <a:solidFill>
            <a:srgbClr val="1A5E3A">
              <a:alpha val="88000"/>
            </a:srgbClr>
          </a:solidFill>
          <a:ln w="19050">
            <a:solidFill>
              <a:srgbClr val="1A5E3A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9" name="Text 49">
            <a:extLst>
              <a:ext uri="{FF2B5EF4-FFF2-40B4-BE49-F238E27FC236}">
                <a16:creationId xmlns:a16="http://schemas.microsoft.com/office/drawing/2014/main" id="{E22DB8DF-C391-4306-B756-493115B17D1B}"/>
              </a:ext>
            </a:extLst>
          </p:cNvPr>
          <p:cNvSpPr/>
          <p:nvPr/>
        </p:nvSpPr>
        <p:spPr>
          <a:xfrm>
            <a:off x="2926080" y="3584448"/>
            <a:ext cx="31089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_safeMint(msg.sender, tokenId)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鑄造 ERC-721 NFT，所有權歸使用者</a:t>
            </a:r>
            <a:endParaRPr lang="en-US" sz="1000" dirty="0"/>
          </a:p>
        </p:txBody>
      </p:sp>
      <p:sp>
        <p:nvSpPr>
          <p:cNvPr id="210" name="Shape 50">
            <a:extLst>
              <a:ext uri="{FF2B5EF4-FFF2-40B4-BE49-F238E27FC236}">
                <a16:creationId xmlns:a16="http://schemas.microsoft.com/office/drawing/2014/main" id="{A9CA5934-9BB4-4F27-95F6-E558F0CB5AAA}"/>
              </a:ext>
            </a:extLst>
          </p:cNvPr>
          <p:cNvSpPr/>
          <p:nvPr/>
        </p:nvSpPr>
        <p:spPr>
          <a:xfrm>
            <a:off x="4480560" y="3968496"/>
            <a:ext cx="0" cy="18288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11" name="Shape 51">
            <a:extLst>
              <a:ext uri="{FF2B5EF4-FFF2-40B4-BE49-F238E27FC236}">
                <a16:creationId xmlns:a16="http://schemas.microsoft.com/office/drawing/2014/main" id="{2A3E44BA-59DC-4698-87B0-87C70B0E4891}"/>
              </a:ext>
            </a:extLst>
          </p:cNvPr>
          <p:cNvSpPr/>
          <p:nvPr/>
        </p:nvSpPr>
        <p:spPr>
          <a:xfrm>
            <a:off x="2926080" y="4151376"/>
            <a:ext cx="3108960" cy="420624"/>
          </a:xfrm>
          <a:prstGeom prst="rect">
            <a:avLst/>
          </a:prstGeom>
          <a:solidFill>
            <a:srgbClr val="4A235A">
              <a:alpha val="88000"/>
            </a:srgbClr>
          </a:solidFill>
          <a:ln w="19050">
            <a:solidFill>
              <a:srgbClr val="4A235A"/>
            </a:solidFill>
            <a:prstDash val="sysDot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2" name="Text 52">
            <a:extLst>
              <a:ext uri="{FF2B5EF4-FFF2-40B4-BE49-F238E27FC236}">
                <a16:creationId xmlns:a16="http://schemas.microsoft.com/office/drawing/2014/main" id="{67E69A65-DCF6-46B2-B023-4B6B80EB6C05}"/>
              </a:ext>
            </a:extLst>
          </p:cNvPr>
          <p:cNvSpPr/>
          <p:nvPr/>
        </p:nvSpPr>
        <p:spPr>
          <a:xfrm>
            <a:off x="2926080" y="4151376"/>
            <a:ext cx="31089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pets[tokenId] = Pet{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symbol, stage:0, rarity:0, bornAt:block.timestamp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}</a:t>
            </a:r>
            <a:endParaRPr lang="en-US" sz="1000" dirty="0"/>
          </a:p>
        </p:txBody>
      </p:sp>
      <p:sp>
        <p:nvSpPr>
          <p:cNvPr id="213" name="Text 53">
            <a:extLst>
              <a:ext uri="{FF2B5EF4-FFF2-40B4-BE49-F238E27FC236}">
                <a16:creationId xmlns:a16="http://schemas.microsoft.com/office/drawing/2014/main" id="{68C5916E-8D54-40ED-8B3F-5C6CC4E10805}"/>
              </a:ext>
            </a:extLst>
          </p:cNvPr>
          <p:cNvSpPr/>
          <p:nvPr/>
        </p:nvSpPr>
        <p:spPr>
          <a:xfrm>
            <a:off x="2926080" y="46268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A589"/>
                </a:solidFill>
              </a:rPr>
              <a:t>→  emit PetMinted(tokenId, msg.sender, symbol)  →  回傳 tokenId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>
            <a:extLst>
              <a:ext uri="{FF2B5EF4-FFF2-40B4-BE49-F238E27FC236}">
                <a16:creationId xmlns:a16="http://schemas.microsoft.com/office/drawing/2014/main" id="{DA335BD1-C2C4-4C1E-B67F-4517F4E9B1DE}"/>
              </a:ext>
            </a:extLst>
          </p:cNvPr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E1816484-9B80-413E-A57B-7D80E41C70CF}"/>
              </a:ext>
            </a:extLst>
          </p:cNvPr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31FA2866-1414-4BE9-8AE2-3422968A9D82}"/>
              </a:ext>
            </a:extLst>
          </p:cNvPr>
          <p:cNvSpPr/>
          <p:nvPr/>
        </p:nvSpPr>
        <p:spPr>
          <a:xfrm>
            <a:off x="164592" y="54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智能合約流程圖 — evolve() 進化流程</a:t>
            </a:r>
            <a:endParaRPr lang="en-US" sz="2000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4AB40734-B5A5-4A39-A504-910D45221509}"/>
              </a:ext>
            </a:extLst>
          </p:cNvPr>
          <p:cNvSpPr/>
          <p:nvPr/>
        </p:nvSpPr>
        <p:spPr>
          <a:xfrm>
            <a:off x="8321040" y="91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A9AB8"/>
                </a:solidFill>
              </a:rPr>
              <a:t>03</a:t>
            </a:r>
            <a:endParaRPr lang="en-US" sz="1600" dirty="0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8C4EDA81-2558-425F-9C00-5610A0D6A065}"/>
              </a:ext>
            </a:extLst>
          </p:cNvPr>
          <p:cNvSpPr/>
          <p:nvPr/>
        </p:nvSpPr>
        <p:spPr>
          <a:xfrm>
            <a:off x="274320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合約驗證擁有者身份與形態上限後，以 keccak256(timestamp, sender, tokenId) % 100 計算隨機值，映射至四級稀有度，更新寵物屬性。</a:t>
            </a:r>
            <a:endParaRPr lang="en-US" sz="1100" dirty="0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06B6608E-2D18-41B8-A69E-F6B101DF7D9D}"/>
              </a:ext>
            </a:extLst>
          </p:cNvPr>
          <p:cNvSpPr/>
          <p:nvPr/>
        </p:nvSpPr>
        <p:spPr>
          <a:xfrm>
            <a:off x="256032" y="4818888"/>
            <a:ext cx="182880" cy="118872"/>
          </a:xfrm>
          <a:prstGeom prst="rect">
            <a:avLst/>
          </a:prstGeom>
          <a:solidFill>
            <a:srgbClr val="17A589">
              <a:alpha val="85000"/>
            </a:srgbClr>
          </a:solidFill>
          <a:ln w="10160">
            <a:solidFill>
              <a:srgbClr val="17A589"/>
            </a:solidFill>
            <a:prstDash val="solid"/>
          </a:ln>
        </p:spPr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2D958B4F-8E79-4486-A486-6F43C9435641}"/>
              </a:ext>
            </a:extLst>
          </p:cNvPr>
          <p:cNvSpPr/>
          <p:nvPr/>
        </p:nvSpPr>
        <p:spPr>
          <a:xfrm>
            <a:off x="475488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開始/結束</a:t>
            </a:r>
            <a:endParaRPr lang="en-US" sz="90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50B44B92-A6D8-44F8-8633-45E8FA5BAD49}"/>
              </a:ext>
            </a:extLst>
          </p:cNvPr>
          <p:cNvSpPr/>
          <p:nvPr/>
        </p:nvSpPr>
        <p:spPr>
          <a:xfrm>
            <a:off x="2011680" y="4818888"/>
            <a:ext cx="182880" cy="118872"/>
          </a:xfrm>
          <a:prstGeom prst="rect">
            <a:avLst/>
          </a:prstGeom>
          <a:solidFill>
            <a:srgbClr val="2E86C1">
              <a:alpha val="85000"/>
            </a:srgbClr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B74272EE-3D72-4212-AB93-877CC2DF18F7}"/>
              </a:ext>
            </a:extLst>
          </p:cNvPr>
          <p:cNvSpPr/>
          <p:nvPr/>
        </p:nvSpPr>
        <p:spPr>
          <a:xfrm>
            <a:off x="2231136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處理程序</a:t>
            </a:r>
            <a:endParaRPr lang="en-US" sz="900" dirty="0"/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3C731EC5-E013-4C0A-882D-3BF03A3E6AB5}"/>
              </a:ext>
            </a:extLst>
          </p:cNvPr>
          <p:cNvSpPr/>
          <p:nvPr/>
        </p:nvSpPr>
        <p:spPr>
          <a:xfrm>
            <a:off x="3767328" y="4818888"/>
            <a:ext cx="182880" cy="118872"/>
          </a:xfrm>
          <a:prstGeom prst="rect">
            <a:avLst/>
          </a:prstGeom>
          <a:solidFill>
            <a:srgbClr val="F9A825">
              <a:alpha val="85000"/>
            </a:srgbClr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5B68BDDA-2DBB-4AB0-979E-0F0ABC7DEE31}"/>
              </a:ext>
            </a:extLst>
          </p:cNvPr>
          <p:cNvSpPr/>
          <p:nvPr/>
        </p:nvSpPr>
        <p:spPr>
          <a:xfrm>
            <a:off x="3986784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判斷菱形</a:t>
            </a:r>
            <a:endParaRPr lang="en-US" sz="90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588FF8CE-F577-4B46-9F82-45480753893F}"/>
              </a:ext>
            </a:extLst>
          </p:cNvPr>
          <p:cNvSpPr/>
          <p:nvPr/>
        </p:nvSpPr>
        <p:spPr>
          <a:xfrm>
            <a:off x="5522976" y="4818888"/>
            <a:ext cx="182880" cy="118872"/>
          </a:xfrm>
          <a:prstGeom prst="rect">
            <a:avLst/>
          </a:prstGeom>
          <a:solidFill>
            <a:srgbClr val="8E44AD">
              <a:alpha val="85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9B3102EB-99C0-4B70-BF90-2D586E396CBC}"/>
              </a:ext>
            </a:extLst>
          </p:cNvPr>
          <p:cNvSpPr/>
          <p:nvPr/>
        </p:nvSpPr>
        <p:spPr>
          <a:xfrm>
            <a:off x="5742432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資料/事件</a:t>
            </a:r>
            <a:endParaRPr lang="en-US" sz="900" dirty="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B2401E05-785A-451F-A705-8F75B9A5E928}"/>
              </a:ext>
            </a:extLst>
          </p:cNvPr>
          <p:cNvSpPr/>
          <p:nvPr/>
        </p:nvSpPr>
        <p:spPr>
          <a:xfrm>
            <a:off x="7278624" y="4818888"/>
            <a:ext cx="182880" cy="118872"/>
          </a:xfrm>
          <a:prstGeom prst="rect">
            <a:avLst/>
          </a:prstGeom>
          <a:solidFill>
            <a:srgbClr val="E74C3C">
              <a:alpha val="85000"/>
            </a:srgbClr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16495F5F-D7E3-4EC7-B47A-8FEEAA2B1BFA}"/>
              </a:ext>
            </a:extLst>
          </p:cNvPr>
          <p:cNvSpPr/>
          <p:nvPr/>
        </p:nvSpPr>
        <p:spPr>
          <a:xfrm>
            <a:off x="7498080" y="480060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AB8"/>
                </a:solidFill>
              </a:rPr>
              <a:t>revert</a:t>
            </a:r>
            <a:endParaRPr lang="en-US" sz="900" dirty="0"/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BBB92496-764B-4BF2-9300-388189D5F53E}"/>
              </a:ext>
            </a:extLst>
          </p:cNvPr>
          <p:cNvSpPr/>
          <p:nvPr/>
        </p:nvSpPr>
        <p:spPr>
          <a:xfrm>
            <a:off x="6291072" y="987552"/>
            <a:ext cx="2615184" cy="3657600"/>
          </a:xfrm>
          <a:prstGeom prst="rect">
            <a:avLst/>
          </a:prstGeom>
          <a:solidFill>
            <a:srgbClr val="112240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4B988F55-9337-4E74-ABAF-2AD44DFEB0D1}"/>
              </a:ext>
            </a:extLst>
          </p:cNvPr>
          <p:cNvSpPr/>
          <p:nvPr/>
        </p:nvSpPr>
        <p:spPr>
          <a:xfrm>
            <a:off x="6291072" y="10241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稀有度機率設定</a:t>
            </a:r>
            <a:endParaRPr lang="en-US" sz="1300" dirty="0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67CA7EF4-382C-4967-B85E-EF660B1727C0}"/>
              </a:ext>
            </a:extLst>
          </p:cNvPr>
          <p:cNvSpPr/>
          <p:nvPr/>
        </p:nvSpPr>
        <p:spPr>
          <a:xfrm>
            <a:off x="6291072" y="1408176"/>
            <a:ext cx="2615184" cy="658368"/>
          </a:xfrm>
          <a:prstGeom prst="rect">
            <a:avLst/>
          </a:prstGeom>
          <a:solidFill>
            <a:srgbClr val="6D6D6D">
              <a:alpha val="78000"/>
            </a:srgbClr>
          </a:solidFill>
          <a:ln w="10160">
            <a:solidFill>
              <a:srgbClr val="6D6D6D"/>
            </a:solidFill>
            <a:prstDash val="solid"/>
          </a:ln>
        </p:spPr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05C1A562-F427-46A9-946A-6669033D84B7}"/>
              </a:ext>
            </a:extLst>
          </p:cNvPr>
          <p:cNvSpPr/>
          <p:nvPr/>
        </p:nvSpPr>
        <p:spPr>
          <a:xfrm>
            <a:off x="6291072" y="1408176"/>
            <a:ext cx="45720" cy="658368"/>
          </a:xfrm>
          <a:prstGeom prst="rect">
            <a:avLst/>
          </a:prstGeom>
          <a:solidFill>
            <a:srgbClr val="6D6D6D"/>
          </a:solidFill>
          <a:ln/>
        </p:spPr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53C2239C-0EE2-4F32-ABB9-B0A6B8DF6E76}"/>
              </a:ext>
            </a:extLst>
          </p:cNvPr>
          <p:cNvSpPr/>
          <p:nvPr/>
        </p:nvSpPr>
        <p:spPr>
          <a:xfrm>
            <a:off x="6364224" y="1444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6D6D"/>
                </a:solidFill>
              </a:rPr>
              <a:t>普通 Common</a:t>
            </a:r>
            <a:endParaRPr lang="en-US" sz="12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257485E1-CB47-477A-8370-621227EC5363}"/>
              </a:ext>
            </a:extLst>
          </p:cNvPr>
          <p:cNvSpPr/>
          <p:nvPr/>
        </p:nvSpPr>
        <p:spPr>
          <a:xfrm>
            <a:off x="6364224" y="17556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rand：0 ~ 59</a:t>
            </a:r>
            <a:endParaRPr lang="en-US" sz="1000" dirty="0"/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8A73B88C-4852-4078-9FEC-D64B1FCEA940}"/>
              </a:ext>
            </a:extLst>
          </p:cNvPr>
          <p:cNvSpPr/>
          <p:nvPr/>
        </p:nvSpPr>
        <p:spPr>
          <a:xfrm>
            <a:off x="7589520" y="1444752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60%</a:t>
            </a:r>
            <a:endParaRPr lang="en-US" sz="2200" dirty="0"/>
          </a:p>
        </p:txBody>
      </p:sp>
      <p:sp>
        <p:nvSpPr>
          <p:cNvPr id="78" name="Shape 22">
            <a:extLst>
              <a:ext uri="{FF2B5EF4-FFF2-40B4-BE49-F238E27FC236}">
                <a16:creationId xmlns:a16="http://schemas.microsoft.com/office/drawing/2014/main" id="{F3C0E966-7590-40B1-B8C4-ECCAC366B65F}"/>
              </a:ext>
            </a:extLst>
          </p:cNvPr>
          <p:cNvSpPr/>
          <p:nvPr/>
        </p:nvSpPr>
        <p:spPr>
          <a:xfrm>
            <a:off x="6291072" y="2157984"/>
            <a:ext cx="2615184" cy="658368"/>
          </a:xfrm>
          <a:prstGeom prst="rect">
            <a:avLst/>
          </a:prstGeom>
          <a:solidFill>
            <a:srgbClr val="2471A3">
              <a:alpha val="78000"/>
            </a:srgbClr>
          </a:solidFill>
          <a:ln w="10160">
            <a:solidFill>
              <a:srgbClr val="2471A3"/>
            </a:solidFill>
            <a:prstDash val="solid"/>
          </a:ln>
        </p:spPr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4281A543-58E3-4B2D-AB19-BE8EC9D58DB7}"/>
              </a:ext>
            </a:extLst>
          </p:cNvPr>
          <p:cNvSpPr/>
          <p:nvPr/>
        </p:nvSpPr>
        <p:spPr>
          <a:xfrm>
            <a:off x="6291072" y="2157984"/>
            <a:ext cx="45720" cy="658368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72152211-0B40-41C7-B1B8-207627A8CEB2}"/>
              </a:ext>
            </a:extLst>
          </p:cNvPr>
          <p:cNvSpPr/>
          <p:nvPr/>
        </p:nvSpPr>
        <p:spPr>
          <a:xfrm>
            <a:off x="6364224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</a:rPr>
              <a:t>稀有 Rare</a:t>
            </a:r>
            <a:endParaRPr lang="en-US" sz="120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4DB5BAF1-05E1-4FF5-8CC3-4CE293D91954}"/>
              </a:ext>
            </a:extLst>
          </p:cNvPr>
          <p:cNvSpPr/>
          <p:nvPr/>
        </p:nvSpPr>
        <p:spPr>
          <a:xfrm>
            <a:off x="6364224" y="2505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rand：60 ~ 84</a:t>
            </a:r>
            <a:endParaRPr lang="en-US" sz="10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18EE0A0C-B937-4439-A00A-98F732FCA67F}"/>
              </a:ext>
            </a:extLst>
          </p:cNvPr>
          <p:cNvSpPr/>
          <p:nvPr/>
        </p:nvSpPr>
        <p:spPr>
          <a:xfrm>
            <a:off x="758952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25%</a:t>
            </a:r>
            <a:endParaRPr lang="en-US" sz="2200" dirty="0"/>
          </a:p>
        </p:txBody>
      </p:sp>
      <p:sp>
        <p:nvSpPr>
          <p:cNvPr id="83" name="Shape 27">
            <a:extLst>
              <a:ext uri="{FF2B5EF4-FFF2-40B4-BE49-F238E27FC236}">
                <a16:creationId xmlns:a16="http://schemas.microsoft.com/office/drawing/2014/main" id="{D47B3636-31C8-44F1-9BE0-C1B863692884}"/>
              </a:ext>
            </a:extLst>
          </p:cNvPr>
          <p:cNvSpPr/>
          <p:nvPr/>
        </p:nvSpPr>
        <p:spPr>
          <a:xfrm>
            <a:off x="6291072" y="2907792"/>
            <a:ext cx="2615184" cy="658368"/>
          </a:xfrm>
          <a:prstGeom prst="rect">
            <a:avLst/>
          </a:prstGeom>
          <a:solidFill>
            <a:srgbClr val="7D3C98">
              <a:alpha val="78000"/>
            </a:srgbClr>
          </a:solidFill>
          <a:ln w="10160">
            <a:solidFill>
              <a:srgbClr val="7D3C98"/>
            </a:solidFill>
            <a:prstDash val="solid"/>
          </a:ln>
        </p:spPr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310B5A24-6162-46C5-B6D3-FAC620356381}"/>
              </a:ext>
            </a:extLst>
          </p:cNvPr>
          <p:cNvSpPr/>
          <p:nvPr/>
        </p:nvSpPr>
        <p:spPr>
          <a:xfrm>
            <a:off x="6291072" y="2907792"/>
            <a:ext cx="45720" cy="65836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D0B98C7D-FCC4-4A62-B7AD-5345A1E433AA}"/>
              </a:ext>
            </a:extLst>
          </p:cNvPr>
          <p:cNvSpPr/>
          <p:nvPr/>
        </p:nvSpPr>
        <p:spPr>
          <a:xfrm>
            <a:off x="6364224" y="2944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</a:rPr>
              <a:t>史詩 Epic</a:t>
            </a:r>
            <a:endParaRPr lang="en-US" sz="1200" dirty="0"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C07047CC-7E35-4996-8278-9ED073C4B7E3}"/>
              </a:ext>
            </a:extLst>
          </p:cNvPr>
          <p:cNvSpPr/>
          <p:nvPr/>
        </p:nvSpPr>
        <p:spPr>
          <a:xfrm>
            <a:off x="6364224" y="32552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rand：85 ~ 96</a:t>
            </a:r>
            <a:endParaRPr lang="en-US" sz="1000" dirty="0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03123C99-7C59-4573-BC00-B39175A836DD}"/>
              </a:ext>
            </a:extLst>
          </p:cNvPr>
          <p:cNvSpPr/>
          <p:nvPr/>
        </p:nvSpPr>
        <p:spPr>
          <a:xfrm>
            <a:off x="7589520" y="2944368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12%</a:t>
            </a:r>
            <a:endParaRPr lang="en-US" sz="2200" dirty="0"/>
          </a:p>
        </p:txBody>
      </p:sp>
      <p:sp>
        <p:nvSpPr>
          <p:cNvPr id="88" name="Shape 32">
            <a:extLst>
              <a:ext uri="{FF2B5EF4-FFF2-40B4-BE49-F238E27FC236}">
                <a16:creationId xmlns:a16="http://schemas.microsoft.com/office/drawing/2014/main" id="{0F21BDAA-8FD8-42E5-A4DC-CA0ED3F5DC07}"/>
              </a:ext>
            </a:extLst>
          </p:cNvPr>
          <p:cNvSpPr/>
          <p:nvPr/>
        </p:nvSpPr>
        <p:spPr>
          <a:xfrm>
            <a:off x="6291072" y="3657600"/>
            <a:ext cx="2615184" cy="658368"/>
          </a:xfrm>
          <a:prstGeom prst="rect">
            <a:avLst/>
          </a:prstGeom>
          <a:solidFill>
            <a:srgbClr val="CB4335">
              <a:alpha val="78000"/>
            </a:srgbClr>
          </a:solidFill>
          <a:ln w="10160">
            <a:solidFill>
              <a:srgbClr val="CB4335"/>
            </a:solidFill>
            <a:prstDash val="solid"/>
          </a:ln>
        </p:spPr>
      </p:sp>
      <p:sp>
        <p:nvSpPr>
          <p:cNvPr id="89" name="Shape 33">
            <a:extLst>
              <a:ext uri="{FF2B5EF4-FFF2-40B4-BE49-F238E27FC236}">
                <a16:creationId xmlns:a16="http://schemas.microsoft.com/office/drawing/2014/main" id="{A760E191-2DCC-4570-B186-911456B4B1A9}"/>
              </a:ext>
            </a:extLst>
          </p:cNvPr>
          <p:cNvSpPr/>
          <p:nvPr/>
        </p:nvSpPr>
        <p:spPr>
          <a:xfrm>
            <a:off x="6291072" y="3657600"/>
            <a:ext cx="45720" cy="658368"/>
          </a:xfrm>
          <a:prstGeom prst="rect">
            <a:avLst/>
          </a:prstGeom>
          <a:solidFill>
            <a:srgbClr val="CB4335"/>
          </a:solidFill>
          <a:ln/>
        </p:spPr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B7DF7115-2AF8-49AD-A338-95363A8F3476}"/>
              </a:ext>
            </a:extLst>
          </p:cNvPr>
          <p:cNvSpPr/>
          <p:nvPr/>
        </p:nvSpPr>
        <p:spPr>
          <a:xfrm>
            <a:off x="6364224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4335"/>
                </a:solidFill>
              </a:rPr>
              <a:t>隱藏 Secret</a:t>
            </a:r>
            <a:endParaRPr lang="en-US" sz="1200" dirty="0"/>
          </a:p>
        </p:txBody>
      </p:sp>
      <p:sp>
        <p:nvSpPr>
          <p:cNvPr id="91" name="Text 35">
            <a:extLst>
              <a:ext uri="{FF2B5EF4-FFF2-40B4-BE49-F238E27FC236}">
                <a16:creationId xmlns:a16="http://schemas.microsoft.com/office/drawing/2014/main" id="{02347D97-D4B5-4351-8C7F-7E5311ABF3E8}"/>
              </a:ext>
            </a:extLst>
          </p:cNvPr>
          <p:cNvSpPr/>
          <p:nvPr/>
        </p:nvSpPr>
        <p:spPr>
          <a:xfrm>
            <a:off x="6364224" y="4005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</a:rPr>
              <a:t>rand：97 ~ 99</a:t>
            </a:r>
            <a:endParaRPr lang="en-US" sz="100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2F7FA446-8B97-47F9-94E6-82FC88DA8A9B}"/>
              </a:ext>
            </a:extLst>
          </p:cNvPr>
          <p:cNvSpPr/>
          <p:nvPr/>
        </p:nvSpPr>
        <p:spPr>
          <a:xfrm>
            <a:off x="7589520" y="3694176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 3%</a:t>
            </a:r>
            <a:endParaRPr lang="en-US" sz="2200" dirty="0"/>
          </a:p>
        </p:txBody>
      </p:sp>
      <p:sp>
        <p:nvSpPr>
          <p:cNvPr id="93" name="Text 37">
            <a:extLst>
              <a:ext uri="{FF2B5EF4-FFF2-40B4-BE49-F238E27FC236}">
                <a16:creationId xmlns:a16="http://schemas.microsoft.com/office/drawing/2014/main" id="{D28E70EE-7AF9-4A84-98C6-CB7A503BCEB1}"/>
              </a:ext>
            </a:extLst>
          </p:cNvPr>
          <p:cNvSpPr/>
          <p:nvPr/>
        </p:nvSpPr>
        <p:spPr>
          <a:xfrm>
            <a:off x="6291072" y="44074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AB8"/>
                </a:solidFill>
              </a:rPr>
              <a:t>keccak256(timestamp, sender, tokenId) % 100</a:t>
            </a:r>
            <a:endParaRPr lang="en-US" sz="900" dirty="0"/>
          </a:p>
        </p:txBody>
      </p:sp>
      <p:sp>
        <p:nvSpPr>
          <p:cNvPr id="94" name="Shape 38">
            <a:extLst>
              <a:ext uri="{FF2B5EF4-FFF2-40B4-BE49-F238E27FC236}">
                <a16:creationId xmlns:a16="http://schemas.microsoft.com/office/drawing/2014/main" id="{97F5EFFC-9AA2-41EE-90E8-944C7C9AD6B8}"/>
              </a:ext>
            </a:extLst>
          </p:cNvPr>
          <p:cNvSpPr/>
          <p:nvPr/>
        </p:nvSpPr>
        <p:spPr>
          <a:xfrm>
            <a:off x="2743200" y="987552"/>
            <a:ext cx="3200400" cy="384048"/>
          </a:xfrm>
          <a:prstGeom prst="roundRect">
            <a:avLst>
              <a:gd name="adj" fmla="val 48000"/>
            </a:avLst>
          </a:prstGeom>
          <a:solidFill>
            <a:srgbClr val="0E6655">
              <a:alpha val="92000"/>
            </a:srgbClr>
          </a:solidFill>
          <a:ln w="25400">
            <a:solidFill>
              <a:srgbClr val="17A589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9CB573B8-B863-4654-AC54-008F1F7B19C2}"/>
              </a:ext>
            </a:extLst>
          </p:cNvPr>
          <p:cNvSpPr/>
          <p:nvPr/>
        </p:nvSpPr>
        <p:spPr>
          <a:xfrm>
            <a:off x="2743200" y="987552"/>
            <a:ext cx="3200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開始：呼叫 evolve(tokenId)</a:t>
            </a:r>
            <a:endParaRPr lang="en-US" sz="1100" dirty="0"/>
          </a:p>
        </p:txBody>
      </p:sp>
      <p:sp>
        <p:nvSpPr>
          <p:cNvPr id="96" name="Shape 40">
            <a:extLst>
              <a:ext uri="{FF2B5EF4-FFF2-40B4-BE49-F238E27FC236}">
                <a16:creationId xmlns:a16="http://schemas.microsoft.com/office/drawing/2014/main" id="{6D9B9A2F-135B-4A8B-9110-691C41B250F7}"/>
              </a:ext>
            </a:extLst>
          </p:cNvPr>
          <p:cNvSpPr/>
          <p:nvPr/>
        </p:nvSpPr>
        <p:spPr>
          <a:xfrm>
            <a:off x="4343400" y="1371600"/>
            <a:ext cx="0" cy="164592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97" name="Shape 41">
            <a:extLst>
              <a:ext uri="{FF2B5EF4-FFF2-40B4-BE49-F238E27FC236}">
                <a16:creationId xmlns:a16="http://schemas.microsoft.com/office/drawing/2014/main" id="{307E24D2-E0EB-41FB-BF35-EC34E6D260CA}"/>
              </a:ext>
            </a:extLst>
          </p:cNvPr>
          <p:cNvSpPr/>
          <p:nvPr/>
        </p:nvSpPr>
        <p:spPr>
          <a:xfrm rot="2700000">
            <a:off x="4112971" y="1625803"/>
            <a:ext cx="460858" cy="460858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8" name="Text 42">
            <a:extLst>
              <a:ext uri="{FF2B5EF4-FFF2-40B4-BE49-F238E27FC236}">
                <a16:creationId xmlns:a16="http://schemas.microsoft.com/office/drawing/2014/main" id="{EDCCB8EA-78E3-404E-8F3B-80161966762D}"/>
              </a:ext>
            </a:extLst>
          </p:cNvPr>
          <p:cNvSpPr/>
          <p:nvPr/>
        </p:nvSpPr>
        <p:spPr>
          <a:xfrm>
            <a:off x="2743200" y="1600200"/>
            <a:ext cx="320040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ownerOf(tokenId)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== msg.sender ?</a:t>
            </a:r>
            <a:endParaRPr lang="en-US" sz="1000" dirty="0"/>
          </a:p>
        </p:txBody>
      </p:sp>
      <p:sp>
        <p:nvSpPr>
          <p:cNvPr id="99" name="Shape 43">
            <a:extLst>
              <a:ext uri="{FF2B5EF4-FFF2-40B4-BE49-F238E27FC236}">
                <a16:creationId xmlns:a16="http://schemas.microsoft.com/office/drawing/2014/main" id="{569C7885-0BAD-4B9B-8539-68AB1EC26D3B}"/>
              </a:ext>
            </a:extLst>
          </p:cNvPr>
          <p:cNvSpPr/>
          <p:nvPr/>
        </p:nvSpPr>
        <p:spPr>
          <a:xfrm>
            <a:off x="2322576" y="1856232"/>
            <a:ext cx="420624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00" name="Text 44">
            <a:extLst>
              <a:ext uri="{FF2B5EF4-FFF2-40B4-BE49-F238E27FC236}">
                <a16:creationId xmlns:a16="http://schemas.microsoft.com/office/drawing/2014/main" id="{A2103531-B21A-4F63-BEB9-7565A817C81D}"/>
              </a:ext>
            </a:extLst>
          </p:cNvPr>
          <p:cNvSpPr/>
          <p:nvPr/>
        </p:nvSpPr>
        <p:spPr>
          <a:xfrm>
            <a:off x="2276856" y="16550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否</a:t>
            </a:r>
            <a:endParaRPr lang="en-US" sz="900" dirty="0"/>
          </a:p>
        </p:txBody>
      </p:sp>
      <p:sp>
        <p:nvSpPr>
          <p:cNvPr id="101" name="Shape 45">
            <a:extLst>
              <a:ext uri="{FF2B5EF4-FFF2-40B4-BE49-F238E27FC236}">
                <a16:creationId xmlns:a16="http://schemas.microsoft.com/office/drawing/2014/main" id="{18351EDE-F75B-41E3-B51A-D4FF812D0829}"/>
              </a:ext>
            </a:extLst>
          </p:cNvPr>
          <p:cNvSpPr/>
          <p:nvPr/>
        </p:nvSpPr>
        <p:spPr>
          <a:xfrm>
            <a:off x="749808" y="1664208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7B241C">
              <a:alpha val="92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2" name="Text 46">
            <a:extLst>
              <a:ext uri="{FF2B5EF4-FFF2-40B4-BE49-F238E27FC236}">
                <a16:creationId xmlns:a16="http://schemas.microsoft.com/office/drawing/2014/main" id="{0328BE84-68E5-4F50-BDB6-D2455D0CAFC9}"/>
              </a:ext>
            </a:extLst>
          </p:cNvPr>
          <p:cNvSpPr/>
          <p:nvPr/>
        </p:nvSpPr>
        <p:spPr>
          <a:xfrm>
            <a:off x="749808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「not owner」</a:t>
            </a:r>
            <a:endParaRPr lang="en-US" sz="1000" dirty="0"/>
          </a:p>
        </p:txBody>
      </p:sp>
      <p:sp>
        <p:nvSpPr>
          <p:cNvPr id="103" name="Shape 47">
            <a:extLst>
              <a:ext uri="{FF2B5EF4-FFF2-40B4-BE49-F238E27FC236}">
                <a16:creationId xmlns:a16="http://schemas.microsoft.com/office/drawing/2014/main" id="{15B6F041-00E4-44F9-A65A-1014D4B58941}"/>
              </a:ext>
            </a:extLst>
          </p:cNvPr>
          <p:cNvSpPr/>
          <p:nvPr/>
        </p:nvSpPr>
        <p:spPr>
          <a:xfrm>
            <a:off x="4343400" y="2176272"/>
            <a:ext cx="0" cy="164592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04" name="Text 48">
            <a:extLst>
              <a:ext uri="{FF2B5EF4-FFF2-40B4-BE49-F238E27FC236}">
                <a16:creationId xmlns:a16="http://schemas.microsoft.com/office/drawing/2014/main" id="{F9A4C06E-53F2-49E9-B4A3-BDED395A0FD5}"/>
              </a:ext>
            </a:extLst>
          </p:cNvPr>
          <p:cNvSpPr/>
          <p:nvPr/>
        </p:nvSpPr>
        <p:spPr>
          <a:xfrm>
            <a:off x="3886200" y="21579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是</a:t>
            </a:r>
            <a:endParaRPr lang="en-US" sz="900" dirty="0"/>
          </a:p>
        </p:txBody>
      </p:sp>
      <p:sp>
        <p:nvSpPr>
          <p:cNvPr id="105" name="Shape 49">
            <a:extLst>
              <a:ext uri="{FF2B5EF4-FFF2-40B4-BE49-F238E27FC236}">
                <a16:creationId xmlns:a16="http://schemas.microsoft.com/office/drawing/2014/main" id="{E27E3A4F-99FA-4580-8A1B-1B82AE5CE060}"/>
              </a:ext>
            </a:extLst>
          </p:cNvPr>
          <p:cNvSpPr/>
          <p:nvPr/>
        </p:nvSpPr>
        <p:spPr>
          <a:xfrm rot="2700000">
            <a:off x="4112971" y="2430475"/>
            <a:ext cx="460858" cy="460858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AB885E34-5916-4A2A-BFF6-4721F666B363}"/>
              </a:ext>
            </a:extLst>
          </p:cNvPr>
          <p:cNvSpPr/>
          <p:nvPr/>
        </p:nvSpPr>
        <p:spPr>
          <a:xfrm>
            <a:off x="2743200" y="2404872"/>
            <a:ext cx="320040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pet.stage &lt;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（未達成熟期）?</a:t>
            </a:r>
            <a:endParaRPr lang="en-US" sz="1000" dirty="0"/>
          </a:p>
        </p:txBody>
      </p:sp>
      <p:sp>
        <p:nvSpPr>
          <p:cNvPr id="107" name="Shape 51">
            <a:extLst>
              <a:ext uri="{FF2B5EF4-FFF2-40B4-BE49-F238E27FC236}">
                <a16:creationId xmlns:a16="http://schemas.microsoft.com/office/drawing/2014/main" id="{5D879A9E-69F0-422D-91E2-61E26EE694BF}"/>
              </a:ext>
            </a:extLst>
          </p:cNvPr>
          <p:cNvSpPr/>
          <p:nvPr/>
        </p:nvSpPr>
        <p:spPr>
          <a:xfrm>
            <a:off x="2322576" y="2660904"/>
            <a:ext cx="420624" cy="0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08" name="Text 52">
            <a:extLst>
              <a:ext uri="{FF2B5EF4-FFF2-40B4-BE49-F238E27FC236}">
                <a16:creationId xmlns:a16="http://schemas.microsoft.com/office/drawing/2014/main" id="{DEF08141-66B3-448F-88D0-12437626FF69}"/>
              </a:ext>
            </a:extLst>
          </p:cNvPr>
          <p:cNvSpPr/>
          <p:nvPr/>
        </p:nvSpPr>
        <p:spPr>
          <a:xfrm>
            <a:off x="2276856" y="245973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否</a:t>
            </a:r>
            <a:endParaRPr lang="en-US" sz="90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A8F79C97-914C-46DE-9128-685F36A76A27}"/>
              </a:ext>
            </a:extLst>
          </p:cNvPr>
          <p:cNvSpPr/>
          <p:nvPr/>
        </p:nvSpPr>
        <p:spPr>
          <a:xfrm>
            <a:off x="749808" y="246888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7B241C">
              <a:alpha val="92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0" name="Text 54">
            <a:extLst>
              <a:ext uri="{FF2B5EF4-FFF2-40B4-BE49-F238E27FC236}">
                <a16:creationId xmlns:a16="http://schemas.microsoft.com/office/drawing/2014/main" id="{83A31F06-7698-4D57-B3D4-203DB28D0D41}"/>
              </a:ext>
            </a:extLst>
          </p:cNvPr>
          <p:cNvSpPr/>
          <p:nvPr/>
        </p:nvSpPr>
        <p:spPr>
          <a:xfrm>
            <a:off x="749808" y="2468880"/>
            <a:ext cx="15727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「max stage」</a:t>
            </a:r>
            <a:endParaRPr lang="en-US" sz="1000" dirty="0"/>
          </a:p>
        </p:txBody>
      </p:sp>
      <p:sp>
        <p:nvSpPr>
          <p:cNvPr id="111" name="Shape 55">
            <a:extLst>
              <a:ext uri="{FF2B5EF4-FFF2-40B4-BE49-F238E27FC236}">
                <a16:creationId xmlns:a16="http://schemas.microsoft.com/office/drawing/2014/main" id="{5C44A1FB-FE57-4592-A5BA-7F848C58EEA3}"/>
              </a:ext>
            </a:extLst>
          </p:cNvPr>
          <p:cNvSpPr/>
          <p:nvPr/>
        </p:nvSpPr>
        <p:spPr>
          <a:xfrm>
            <a:off x="4343400" y="2980944"/>
            <a:ext cx="0" cy="164592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12" name="Text 56">
            <a:extLst>
              <a:ext uri="{FF2B5EF4-FFF2-40B4-BE49-F238E27FC236}">
                <a16:creationId xmlns:a16="http://schemas.microsoft.com/office/drawing/2014/main" id="{0BC01147-F37D-4941-9247-34B1CD1D2CCF}"/>
              </a:ext>
            </a:extLst>
          </p:cNvPr>
          <p:cNvSpPr/>
          <p:nvPr/>
        </p:nvSpPr>
        <p:spPr>
          <a:xfrm>
            <a:off x="3886200" y="2962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</a:rPr>
              <a:t>是</a:t>
            </a:r>
            <a:endParaRPr lang="en-US" sz="900" dirty="0"/>
          </a:p>
        </p:txBody>
      </p:sp>
      <p:sp>
        <p:nvSpPr>
          <p:cNvPr id="113" name="Shape 57">
            <a:extLst>
              <a:ext uri="{FF2B5EF4-FFF2-40B4-BE49-F238E27FC236}">
                <a16:creationId xmlns:a16="http://schemas.microsoft.com/office/drawing/2014/main" id="{FF17B372-4251-4335-BA00-2659B0F88CD0}"/>
              </a:ext>
            </a:extLst>
          </p:cNvPr>
          <p:cNvSpPr/>
          <p:nvPr/>
        </p:nvSpPr>
        <p:spPr>
          <a:xfrm>
            <a:off x="2743200" y="3145536"/>
            <a:ext cx="3200400" cy="493776"/>
          </a:xfrm>
          <a:prstGeom prst="rect">
            <a:avLst/>
          </a:prstGeom>
          <a:solidFill>
            <a:srgbClr val="1A3A5C">
              <a:alpha val="88000"/>
            </a:srgbClr>
          </a:solidFill>
          <a:ln w="19050">
            <a:solidFill>
              <a:srgbClr val="1A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4" name="Text 58">
            <a:extLst>
              <a:ext uri="{FF2B5EF4-FFF2-40B4-BE49-F238E27FC236}">
                <a16:creationId xmlns:a16="http://schemas.microsoft.com/office/drawing/2014/main" id="{066F657B-9EE8-49A9-8405-F7D55740A66E}"/>
              </a:ext>
            </a:extLst>
          </p:cNvPr>
          <p:cNvSpPr/>
          <p:nvPr/>
        </p:nvSpPr>
        <p:spPr>
          <a:xfrm>
            <a:off x="2743200" y="3145536"/>
            <a:ext cx="320040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 = uint256(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keccak256(block.timestamp,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msg.sender, tokenId)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% 100</a:t>
            </a:r>
            <a:endParaRPr lang="en-US" sz="1000" dirty="0"/>
          </a:p>
        </p:txBody>
      </p:sp>
      <p:sp>
        <p:nvSpPr>
          <p:cNvPr id="115" name="Shape 59">
            <a:extLst>
              <a:ext uri="{FF2B5EF4-FFF2-40B4-BE49-F238E27FC236}">
                <a16:creationId xmlns:a16="http://schemas.microsoft.com/office/drawing/2014/main" id="{C5A7FCD7-0C96-4C79-94E0-BCB749B9D34B}"/>
              </a:ext>
            </a:extLst>
          </p:cNvPr>
          <p:cNvSpPr/>
          <p:nvPr/>
        </p:nvSpPr>
        <p:spPr>
          <a:xfrm>
            <a:off x="4343400" y="3639312"/>
            <a:ext cx="0" cy="164592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16" name="Shape 60">
            <a:extLst>
              <a:ext uri="{FF2B5EF4-FFF2-40B4-BE49-F238E27FC236}">
                <a16:creationId xmlns:a16="http://schemas.microsoft.com/office/drawing/2014/main" id="{DF79406C-84AC-494E-B9AD-A06E5BE212BE}"/>
              </a:ext>
            </a:extLst>
          </p:cNvPr>
          <p:cNvSpPr/>
          <p:nvPr/>
        </p:nvSpPr>
        <p:spPr>
          <a:xfrm rot="2700000">
            <a:off x="4112971" y="3893515"/>
            <a:ext cx="460858" cy="460858"/>
          </a:xfrm>
          <a:prstGeom prst="rect">
            <a:avLst/>
          </a:prstGeom>
          <a:solidFill>
            <a:srgbClr val="5D4037">
              <a:alpha val="92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7" name="Text 61">
            <a:extLst>
              <a:ext uri="{FF2B5EF4-FFF2-40B4-BE49-F238E27FC236}">
                <a16:creationId xmlns:a16="http://schemas.microsoft.com/office/drawing/2014/main" id="{673B13EB-23AD-4412-AA9E-485DD0B98161}"/>
              </a:ext>
            </a:extLst>
          </p:cNvPr>
          <p:cNvSpPr/>
          <p:nvPr/>
        </p:nvSpPr>
        <p:spPr>
          <a:xfrm>
            <a:off x="2743200" y="3867912"/>
            <a:ext cx="320040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 值落在哪個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稀有度範圍？</a:t>
            </a:r>
            <a:endParaRPr lang="en-US" sz="1000" dirty="0"/>
          </a:p>
        </p:txBody>
      </p:sp>
      <p:sp>
        <p:nvSpPr>
          <p:cNvPr id="118" name="Shape 62">
            <a:extLst>
              <a:ext uri="{FF2B5EF4-FFF2-40B4-BE49-F238E27FC236}">
                <a16:creationId xmlns:a16="http://schemas.microsoft.com/office/drawing/2014/main" id="{47983292-9FED-4A01-A2D1-58BE7E36255D}"/>
              </a:ext>
            </a:extLst>
          </p:cNvPr>
          <p:cNvSpPr/>
          <p:nvPr/>
        </p:nvSpPr>
        <p:spPr>
          <a:xfrm>
            <a:off x="5943600" y="4123944"/>
            <a:ext cx="402336" cy="0"/>
          </a:xfrm>
          <a:prstGeom prst="line">
            <a:avLst/>
          </a:prstGeom>
          <a:noFill/>
          <a:ln w="15240">
            <a:solidFill>
              <a:srgbClr val="FFD966"/>
            </a:solidFill>
            <a:prstDash val="dash"/>
          </a:ln>
        </p:spPr>
      </p:sp>
      <p:sp>
        <p:nvSpPr>
          <p:cNvPr id="119" name="Text 63">
            <a:extLst>
              <a:ext uri="{FF2B5EF4-FFF2-40B4-BE49-F238E27FC236}">
                <a16:creationId xmlns:a16="http://schemas.microsoft.com/office/drawing/2014/main" id="{A91C13CD-5D75-4487-8280-AC55B6BB906E}"/>
              </a:ext>
            </a:extLst>
          </p:cNvPr>
          <p:cNvSpPr/>
          <p:nvPr/>
        </p:nvSpPr>
        <p:spPr>
          <a:xfrm>
            <a:off x="6181344" y="39867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C518"/>
                </a:solidFill>
              </a:rPr>
              <a:t>↗</a:t>
            </a:r>
            <a:endParaRPr lang="en-US" sz="1300" dirty="0"/>
          </a:p>
        </p:txBody>
      </p:sp>
      <p:sp>
        <p:nvSpPr>
          <p:cNvPr id="120" name="Shape 64">
            <a:extLst>
              <a:ext uri="{FF2B5EF4-FFF2-40B4-BE49-F238E27FC236}">
                <a16:creationId xmlns:a16="http://schemas.microsoft.com/office/drawing/2014/main" id="{1D58FD6C-CC84-4A88-83CC-871F9202803A}"/>
              </a:ext>
            </a:extLst>
          </p:cNvPr>
          <p:cNvSpPr/>
          <p:nvPr/>
        </p:nvSpPr>
        <p:spPr>
          <a:xfrm>
            <a:off x="4343400" y="4443984"/>
            <a:ext cx="0" cy="164592"/>
          </a:xfrm>
          <a:prstGeom prst="line">
            <a:avLst/>
          </a:prstGeom>
          <a:noFill/>
          <a:ln w="2286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21" name="Shape 65">
            <a:extLst>
              <a:ext uri="{FF2B5EF4-FFF2-40B4-BE49-F238E27FC236}">
                <a16:creationId xmlns:a16="http://schemas.microsoft.com/office/drawing/2014/main" id="{E50C127A-E600-4738-BA47-291BDC21758F}"/>
              </a:ext>
            </a:extLst>
          </p:cNvPr>
          <p:cNvSpPr/>
          <p:nvPr/>
        </p:nvSpPr>
        <p:spPr>
          <a:xfrm>
            <a:off x="2743200" y="4608576"/>
            <a:ext cx="3200400" cy="182880"/>
          </a:xfrm>
          <a:prstGeom prst="rect">
            <a:avLst/>
          </a:prstGeom>
          <a:solidFill>
            <a:srgbClr val="4A235A">
              <a:alpha val="88000"/>
            </a:srgbClr>
          </a:solidFill>
          <a:ln w="19050">
            <a:solidFill>
              <a:srgbClr val="4A235A"/>
            </a:solidFill>
            <a:prstDash val="sysDot"/>
          </a:ln>
          <a:effectLst>
            <a:outerShdw blurRad="635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2" name="Text 66">
            <a:extLst>
              <a:ext uri="{FF2B5EF4-FFF2-40B4-BE49-F238E27FC236}">
                <a16:creationId xmlns:a16="http://schemas.microsoft.com/office/drawing/2014/main" id="{B3E2136A-4B49-478C-8A34-2DBE28CA902B}"/>
              </a:ext>
            </a:extLst>
          </p:cNvPr>
          <p:cNvSpPr/>
          <p:nvPr/>
        </p:nvSpPr>
        <p:spPr>
          <a:xfrm>
            <a:off x="2743200" y="4608576"/>
            <a:ext cx="32004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pet.stage++  ‧  pet.rarity = rarity  ‧  emit PetEvolved(tokenId, stage, rarity)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359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智能合約 - 門檻設定（進化稀有度）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進化稀有度由 keccak256(block.timestamp, msg.sender, tokenId) % 100 決定，各稀有度機率如下：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18"/>
                </a:solidFill>
              </a:rPr>
              <a:t>稀有度機率設定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54864" cy="548640"/>
          </a:xfrm>
          <a:prstGeom prst="rect">
            <a:avLst/>
          </a:prstGeom>
          <a:solidFill>
            <a:srgbClr val="5C5C8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64208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7190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5C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普通 Common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7556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8"/>
                </a:solidFill>
              </a:rPr>
              <a:t>隨機值 0 ~ 59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70078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60%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54864" cy="54864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59152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4140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稀有 Rare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24505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8"/>
                </a:solidFill>
              </a:rPr>
              <a:t>隨機值 60 ~ 84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23957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25%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54864" cy="548640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54096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108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D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史詩 Epic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1455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8"/>
                </a:solidFill>
              </a:rPr>
              <a:t>隨機值 85 ~ 96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0906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12%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74904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" y="38039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隱藏 Secret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8404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8"/>
                </a:solidFill>
              </a:rPr>
              <a:t>隨機值 97 ~ 99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3785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3%</a:t>
            </a:r>
            <a:endParaRPr lang="en-US" sz="16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663440" y="1051560"/>
          <a:ext cx="4206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前端功能 - 操作流程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使用者從連接 MetaMask 開始，完整體驗孵化、養成、進化、圖鑑蒐集的全流程。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188720"/>
            <a:ext cx="914400" cy="914400"/>
          </a:xfrm>
          <a:prstGeom prst="ellipse">
            <a:avLst/>
          </a:prstGeom>
          <a:solidFill>
            <a:srgbClr val="3A7BD5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" y="2212848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MetaMask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71216" y="2240280"/>
            <a:ext cx="530352" cy="0"/>
          </a:xfrm>
          <a:prstGeom prst="line">
            <a:avLst/>
          </a:prstGeom>
          <a:noFill/>
          <a:ln w="2540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38528" y="1078992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76272" y="1188720"/>
            <a:ext cx="914400" cy="914400"/>
          </a:xfrm>
          <a:prstGeom prst="ellipse">
            <a:avLst/>
          </a:prstGeom>
          <a:solidFill>
            <a:srgbClr val="F0B429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7627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38528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38528" y="2212848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選擇幣種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孵化寵物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mintPet()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43984" y="2240280"/>
            <a:ext cx="530352" cy="0"/>
          </a:xfrm>
          <a:prstGeom prst="line">
            <a:avLst/>
          </a:prstGeom>
          <a:noFill/>
          <a:ln w="2540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21024" y="1078992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58768" y="1188720"/>
            <a:ext cx="914400" cy="91440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5876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🐣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621024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21024" y="2212848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觀察寵物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漫步動畫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損益狀態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16752" y="2240280"/>
            <a:ext cx="530352" cy="0"/>
          </a:xfrm>
          <a:prstGeom prst="line">
            <a:avLst/>
          </a:prstGeom>
          <a:noFill/>
          <a:ln w="2540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1078992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41264" y="1188720"/>
            <a:ext cx="914400" cy="914400"/>
          </a:xfrm>
          <a:prstGeom prst="ellipse">
            <a:avLst/>
          </a:prstGeom>
          <a:solidFill>
            <a:srgbClr val="9B59B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41264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⬆️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212848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觸發進化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evolve()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決定稀有度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2240280"/>
            <a:ext cx="530352" cy="0"/>
          </a:xfrm>
          <a:prstGeom prst="line">
            <a:avLst/>
          </a:prstGeom>
          <a:noFill/>
          <a:ln w="25400">
            <a:solidFill>
              <a:srgbClr val="FFD9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986016" y="1078992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188720"/>
            <a:ext cx="914400" cy="914400"/>
          </a:xfrm>
          <a:prstGeom prst="ellipse">
            <a:avLst/>
          </a:prstGeom>
          <a:solidFill>
            <a:srgbClr val="E6394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237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86016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6016" y="2212848"/>
            <a:ext cx="1389888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解鎖圖鑑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蒐集稀有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54787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</a:rPr>
              <a:t>💾  LocalStorage 存檔機制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26080" y="36118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所有持倉資料、寵物狀態、圖鑑解鎖紀錄均儲存於 LocalStorage，瀏覽器重新整理或關閉後重開，資料完整保留，不需要後端伺服器。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實作成果（智能合約測試）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418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41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786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合約編譯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1887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Solidity 0.8.28 編譯成功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則 Warning，0 個 Error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132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9418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941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786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合約部署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1887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Remix VM 部署成功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Deployed Contracts 地址生成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3134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21579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mintPet 鑄造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5603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BTC 寵物鑄造成功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logs=2，PetMinted 事件發送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Gas Used ≈ 180,000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0848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23134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1579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evolve 進化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5603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0→1 進化成功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Gas Used ≈ 80,000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564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6850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685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35295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getPet 查詢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931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 BTC,1,0,timestamp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屬性完全正確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456432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685032"/>
            <a:ext cx="640080" cy="640080"/>
          </a:xfrm>
          <a:prstGeom prst="ellipse">
            <a:avLst/>
          </a:prstGeom>
          <a:solidFill>
            <a:srgbClr val="52C41A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685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2120" y="35295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權限控制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931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非擁有者 → revert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「not owner」正常觸發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實作成果（Gas 費用分析）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713232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713232"/>
          <a:ext cx="3291840" cy="395020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函式名稱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Gas 消耗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費用估算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(20 Gwei)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備註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constructor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1,200,000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0.024 ETH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一次性部署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mintPet()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180,000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0.0036 ETH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每次鑄造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evolve()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80,000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0.0016 ETH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每次進化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getPet()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8,700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免費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view 函式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withdraw()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30,000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0.0006 ETH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</a:rPr>
                        <a:t>提領餘額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274320"/>
            <a:ext cx="4572000" cy="4572000"/>
          </a:xfrm>
          <a:prstGeom prst="ellipse">
            <a:avLst/>
          </a:prstGeom>
          <a:solidFill>
            <a:srgbClr val="52C41A">
              <a:alpha val="15000"/>
            </a:srgbClr>
          </a:solidFill>
          <a:ln w="12700">
            <a:solidFill>
              <a:srgbClr val="52C41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研究成果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54864" cy="82296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749808"/>
            <a:ext cx="8485632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795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4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CryptoPetNFT 智能合約實作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 ERC-721 鑄造、鏈上隨機進化、查詢、提領等完整功能，通過 Remix IDE 編譯與測試驗證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54864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783080"/>
            <a:ext cx="8485632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設計四級稀有度進化機制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203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普通 60% / 稀有 25% / 史詩 12% / 隱藏 3%，搭配特殊觸發條件驅動圖鑑蒐集動機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54864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2816352"/>
            <a:ext cx="8485632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2862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完成前端 Q 萌養成遊戲介面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236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SVG 動物繪製、動態漫步動畫、圖鑑系統、選幣顧問問卷，LocalStorage 存檔，可直接在瀏覽器執行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9624"/>
            <a:ext cx="54864" cy="822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3849624"/>
            <a:ext cx="8485632" cy="822960"/>
          </a:xfrm>
          <a:prstGeom prst="roundRect">
            <a:avLst>
              <a:gd name="adj" fmla="val 8889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38953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驗證區塊鏈教育應用可行性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270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從博弈娛樂延伸至養成教育場景，展示智能合約在遊戲化設計中的應用潛力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</a:rPr>
              <a:t>•  •  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A9AB8"/>
                </a:solidFill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4572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後續研究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" y="685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777240"/>
            <a:ext cx="841248" cy="841248"/>
          </a:xfrm>
          <a:prstGeom prst="ellipse">
            <a:avLst/>
          </a:prstGeom>
          <a:solidFill>
            <a:srgbClr val="4A90D9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7772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 Chainlink VRF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075688"/>
            <a:ext cx="2468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取代鏈上雜湊隨機數，密碼學可驗證，防範礦工操控進化結果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685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77640" y="777240"/>
            <a:ext cx="841248" cy="841248"/>
          </a:xfrm>
          <a:prstGeom prst="ellipse">
            <a:avLst/>
          </a:prstGeom>
          <a:solidFill>
            <a:srgbClr val="52C41A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77640" y="7772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C4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即時幣價整合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75688"/>
            <a:ext cx="2468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 CoinGecko API 或 Uniswap 預言機，真實市場數據驅動寵物狀態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07608" y="6858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777240"/>
            <a:ext cx="841248" cy="841248"/>
          </a:xfrm>
          <a:prstGeom prst="ellipse">
            <a:avLst/>
          </a:prstGeom>
          <a:solidFill>
            <a:srgbClr val="F5C518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77724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76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DAO 治理機制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075688"/>
            <a:ext cx="2468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NFT 持有者鏈上投票，決定新幣種動物加入及遊戲規則調整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97280" y="2971800"/>
            <a:ext cx="841248" cy="841248"/>
          </a:xfrm>
          <a:prstGeom prst="ellipse">
            <a:avLst/>
          </a:prstGeom>
          <a:solidFill>
            <a:srgbClr val="7EC8E3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29718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C8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行動端優化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270248"/>
            <a:ext cx="2468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WalletConnect，開發行動版 App，擴大可及性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27248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77640" y="2971800"/>
            <a:ext cx="841248" cy="841248"/>
          </a:xfrm>
          <a:prstGeom prst="ellipse">
            <a:avLst/>
          </a:prstGeom>
          <a:solidFill>
            <a:srgbClr val="9B59B6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77640" y="29718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0040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NFT 二級市場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270248"/>
            <a:ext cx="2468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平台內買賣稀有形態寵物，形成完整遊戲經濟生態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5943600" cy="2560320"/>
          </a:xfrm>
          <a:prstGeom prst="rect">
            <a:avLst/>
          </a:prstGeom>
          <a:solidFill>
            <a:srgbClr val="F5C518">
              <a:alpha val="85000"/>
            </a:srgbClr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315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C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212080" cy="0"/>
          </a:xfrm>
          <a:prstGeom prst="line">
            <a:avLst/>
          </a:prstGeom>
          <a:noFill/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288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D8E8"/>
                </a:solidFill>
              </a:rPr>
              <a:t>Thank You for Your Attention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</a:rPr>
              <a:t>🎓  國立勤益科技大學 資訊管理系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6758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AB8"/>
                </a:solidFill>
              </a:rPr>
              <a:t>👤  3B132025  游紹維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599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AB8"/>
                </a:solidFill>
              </a:rPr>
              <a:t>👨‍🏫  指導教授：黃展鵬 教授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1134</Words>
  <Application>Microsoft Office PowerPoint</Application>
  <PresentationFormat>如螢幕大小 (16:9)</PresentationFormat>
  <Paragraphs>433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CryptoPet 專題口試報告</dc:title>
  <dc:subject>PptxGenJS Presentation</dc:subject>
  <dc:creator>PptxGenJS</dc:creator>
  <cp:lastModifiedBy>紹維 游</cp:lastModifiedBy>
  <cp:revision>3</cp:revision>
  <dcterms:created xsi:type="dcterms:W3CDTF">2026-05-30T16:47:57Z</dcterms:created>
  <dcterms:modified xsi:type="dcterms:W3CDTF">2026-06-14T13:52:46Z</dcterms:modified>
</cp:coreProperties>
</file>